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PayFlow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4DA8FF"/>
                </a:solidFill>
              </a:defRPr>
            </a:pPr>
            <a:r>
              <a:t>How It Works: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95A5"/>
                </a:solidFill>
              </a:defRPr>
            </a:pPr>
            <a:r>
              <a:t>The Complete Invoice Lifecycle for Construction Companies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572000"/>
            <a:ext cx="7619695" cy="10972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461772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5A5"/>
                </a:solidFill>
              </a:defRPr>
            </a:pPr>
            <a:r>
              <a:t>Fully Integrated With: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4983480"/>
            <a:ext cx="1463040" cy="5943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KOJO</a:t>
            </a:r>
          </a:p>
          <a:p>
            <a:pPr algn="ctr">
              <a:defRPr sz="1100">
                <a:solidFill>
                  <a:srgbClr val="CCCCCC"/>
                </a:solidFill>
              </a:defRPr>
            </a:pPr>
            <a:r>
              <a:t>Procurement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4983480"/>
            <a:ext cx="1463040" cy="594360"/>
          </a:xfrm>
          <a:prstGeom prst="round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Procore</a:t>
            </a:r>
          </a:p>
          <a:p>
            <a:pPr algn="ctr">
              <a:defRPr sz="1100">
                <a:solidFill>
                  <a:srgbClr val="CCCCCC"/>
                </a:solidFill>
              </a:defRPr>
            </a:pPr>
            <a:r>
              <a:t>Project Mgmt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983480"/>
            <a:ext cx="1463040" cy="594360"/>
          </a:xfrm>
          <a:prstGeom prst="round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Sage 300 CRE</a:t>
            </a:r>
          </a:p>
          <a:p>
            <a:pPr algn="ctr">
              <a:defRPr sz="1100">
                <a:solidFill>
                  <a:srgbClr val="CCCCCC"/>
                </a:solidFill>
              </a:defRPr>
            </a:pPr>
            <a:r>
              <a:t>Accounting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4983480"/>
            <a:ext cx="1463040" cy="59436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Email / Scanner</a:t>
            </a:r>
          </a:p>
          <a:p>
            <a:pPr algn="ctr">
              <a:defRPr sz="1100">
                <a:solidFill>
                  <a:srgbClr val="CCCCCC"/>
                </a:solidFill>
              </a:defRPr>
            </a:pPr>
            <a:r>
              <a:t>Invoice 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5A5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How invoices flow from receipt to payment across all connected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11680" cy="9144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KOJO</a:t>
            </a:r>
          </a:p>
          <a:p>
            <a:pPr algn="ctr">
              <a:defRPr sz="1100">
                <a:solidFill>
                  <a:srgbClr val="CCCCCC"/>
                </a:solidFill>
              </a:defRPr>
            </a:pPr>
            <a:r>
              <a:t>Purchase Orders &amp; Materials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2011680" cy="914400"/>
          </a:xfrm>
          <a:prstGeom prst="round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Procore</a:t>
            </a:r>
          </a:p>
          <a:p>
            <a:pPr algn="ctr">
              <a:defRPr sz="1100">
                <a:solidFill>
                  <a:srgbClr val="CCCCCC"/>
                </a:solidFill>
              </a:defRPr>
            </a:pPr>
            <a:r>
              <a:t>Jobs, Budgets, Contracts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645920"/>
            <a:ext cx="2011680" cy="9144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Email / Scanner</a:t>
            </a:r>
          </a:p>
          <a:p>
            <a:pPr algn="ctr">
              <a:defRPr sz="1100">
                <a:solidFill>
                  <a:srgbClr val="CCCCCC"/>
                </a:solidFill>
              </a:defRPr>
            </a:pPr>
            <a:r>
              <a:t>Invoice Intake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2011680" cy="914400"/>
          </a:xfrm>
          <a:prstGeom prst="round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Sage 300 CRE</a:t>
            </a:r>
          </a:p>
          <a:p>
            <a:pPr algn="ctr">
              <a:defRPr sz="1100">
                <a:solidFill>
                  <a:srgbClr val="CCCCCC"/>
                </a:solidFill>
              </a:defRPr>
            </a:pPr>
            <a:r>
              <a:t>GL, Payments,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1645920"/>
            <a:ext cx="155448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More Apps</a:t>
            </a:r>
          </a:p>
          <a:p>
            <a:pPr algn="ctr">
              <a:defRPr sz="1100">
                <a:solidFill>
                  <a:srgbClr val="CCCCCC"/>
                </a:solidFill>
              </a:defRPr>
            </a:pPr>
            <a:r>
              <a:t>Viewpoint, CMiC...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188720" y="2651760"/>
            <a:ext cx="320040" cy="365760"/>
          </a:xfrm>
          <a:prstGeom prst="downArrow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3657600" y="2651760"/>
            <a:ext cx="320040" cy="365760"/>
          </a:xfrm>
          <a:prstGeom prst="downArrow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6126480" y="2651760"/>
            <a:ext cx="320040" cy="365760"/>
          </a:xfrm>
          <a:prstGeom prst="downArrow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8595360" y="2651760"/>
            <a:ext cx="320040" cy="365760"/>
          </a:xfrm>
          <a:prstGeom prst="downArrow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10835640" y="2651760"/>
            <a:ext cx="320040" cy="365760"/>
          </a:xfrm>
          <a:prstGeom prst="downArrow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11430000" cy="3200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90FF"/>
                </a:solidFill>
              </a:defRPr>
            </a:pPr>
            <a:r>
              <a:t>PayFlow AI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417320" cy="22860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319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Receive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Invoices arrive via</a:t>
            </a:r>
            <a:br/>
            <a:r>
              <a:t>email, upload, scan,</a:t>
            </a:r>
            <a:br/>
            <a:r>
              <a:t>or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12848" y="3840480"/>
            <a:ext cx="1417320" cy="22860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58568" y="39319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Extract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43434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Claude AI reads every</a:t>
            </a:r>
            <a:br/>
            <a:r>
              <a:t>field, line item,</a:t>
            </a:r>
            <a:br/>
            <a:r>
              <a:t>and term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85615" y="3840480"/>
            <a:ext cx="1417320" cy="22860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31335" y="39319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31335" y="43434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Auto-assign job,</a:t>
            </a:r>
            <a:br/>
            <a:r>
              <a:t>cost code, GL,</a:t>
            </a:r>
            <a:br/>
            <a:r>
              <a:t>phase, cost 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58383" y="3840480"/>
            <a:ext cx="1417320" cy="22860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4103" y="39319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4103" y="43434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Three-way match</a:t>
            </a:r>
            <a:br/>
            <a:r>
              <a:t>vs PO (KOJO) and</a:t>
            </a:r>
            <a:br/>
            <a:r>
              <a:t>budget (Procore)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31151" y="3840480"/>
            <a:ext cx="1417320" cy="22860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6871" y="39319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1" y="43434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Flag duplicates,</a:t>
            </a:r>
            <a:br/>
            <a:r>
              <a:t>math errors, fraud,</a:t>
            </a:r>
            <a:br/>
            <a:r>
              <a:t>over-budget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19" y="3840480"/>
            <a:ext cx="1417320" cy="22860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9319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6. 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43434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Send to right</a:t>
            </a:r>
            <a:br/>
            <a:r>
              <a:t>approver based on</a:t>
            </a:r>
            <a:br/>
            <a:r>
              <a:t>job, amount, trade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76688" y="3840480"/>
            <a:ext cx="1417320" cy="2286000"/>
          </a:xfrm>
          <a:prstGeom prst="round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22408" y="39319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7. 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22408" y="43434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Push approved</a:t>
            </a:r>
            <a:br/>
            <a:r>
              <a:t>invoice to Sage</a:t>
            </a:r>
            <a:br/>
            <a:r>
              <a:t>for payment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74320"/>
            <a:ext cx="640080" cy="64008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Invoice Intake — How Invoices Enter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Multiple channels, one unified inbox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697480" cy="47548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90FF"/>
                </a:solidFill>
              </a:defRPr>
            </a:pPr>
            <a:r>
              <a:t>Email Forwarding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invoices@yourcompany.payflowai.com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6888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Vendors email invoices directly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1752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Auto-forwarded from AP inbox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56616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Attachments extracted automatically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11480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PDF, PNG, JPG supported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463040"/>
            <a:ext cx="2697480" cy="47548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6002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</a:defRPr>
            </a:pPr>
            <a:r>
              <a:t>Direct 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011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Drag &amp; drop or bulk upload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246888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79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Web dashboard upload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01752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79" y="3063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Bulk upload (50+ at once)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56616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79" y="36118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Mobile photo capture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411480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79" y="41605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Any file format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463040"/>
            <a:ext cx="2697480" cy="47548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6002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B59B6"/>
                </a:solidFill>
              </a:defRPr>
            </a:pPr>
            <a:r>
              <a:t>Scanner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011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Network scanner auto-feed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246888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Scan-to-folder watched by PayFlow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01752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063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Copier/scanner direct integration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56616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6118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Batch scanning supported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411480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1605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Auto-splits multi-page scans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1463040"/>
            <a:ext cx="2697480" cy="47548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16002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</a:defRPr>
            </a:pPr>
            <a:r>
              <a:t>KOJO / Vendor Portal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011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Invoices attached to POs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246888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2600" y="2514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KOJO sends invoices with PO reference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301752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3063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Vendor portal self-service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5440" y="356616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36118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Pre-linked to purchase order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4114800"/>
            <a:ext cx="2423160" cy="50292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41605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Fastest path to three-way match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6400800"/>
            <a:ext cx="11430000" cy="320040"/>
          </a:xfrm>
          <a:prstGeom prst="roundRect">
            <a:avLst/>
          </a:prstGeom>
          <a:solidFill>
            <a:srgbClr val="1A9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All channels converge into a single queue — no invoice gets lost regardless of how it arrives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74320"/>
            <a:ext cx="640080" cy="64008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 Extraction — Claude Reads Every Invoice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Multimodal AI sees the invoice like a human — but faster and more consistent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029200" cy="5029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90FF"/>
                </a:solidFill>
              </a:defRPr>
            </a:pPr>
            <a:r>
              <a:t>What the AI Reads from Each Invoice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4663440" cy="3657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2996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Vendor name, address, phone,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04872"/>
            <a:ext cx="4663440" cy="3657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Invoice number and 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98064"/>
            <a:ext cx="4663440" cy="3657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Due date and payment terms (Net 30, 2/10 Net 30)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91256"/>
            <a:ext cx="4663440" cy="3657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0954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PO number (links to KOJO)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84448"/>
            <a:ext cx="4663440" cy="3657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0273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Job name or number (links to Procore)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40"/>
            <a:ext cx="4663440" cy="3657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9592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Line items: description, qty, unit price, amount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70832"/>
            <a:ext cx="4663440" cy="3657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Subtotal, tax, shipping, 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64024"/>
            <a:ext cx="4663440" cy="3657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8231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Retention / retainage held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57216"/>
            <a:ext cx="4663440" cy="3657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75503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AIA document references (G702/G703)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550407"/>
            <a:ext cx="4663440" cy="3657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68695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Lien waiver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943599"/>
            <a:ext cx="4663440" cy="3657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961887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Change order references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6336791"/>
            <a:ext cx="4663440" cy="3657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355079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Remit-to address and banking details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1463040"/>
            <a:ext cx="5943600" cy="5029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1508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</a:defRPr>
            </a:pPr>
            <a:r>
              <a:t>How the AI Engine Works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2011680"/>
            <a:ext cx="5577840" cy="749808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20299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Claude Sonnet 4.6 (Primary)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3042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Processes 80% of standard invoices</a:t>
            </a:r>
            <a:br/>
            <a:r>
              <a:t>Fast, accurate, cost-effective at ~$0.01/invoice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2807208"/>
            <a:ext cx="5577840" cy="749808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8254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Claude Opus 4.6 (Complex)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309981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Handles AIA pay apps, multi-page invoices</a:t>
            </a:r>
            <a:br/>
            <a:r>
              <a:t>Extended thinking for complex line items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3602736"/>
            <a:ext cx="5577840" cy="749808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36210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Claude Haiku 4.5 (Triage)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389534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Initial classification and routing</a:t>
            </a:r>
            <a:br/>
            <a:r>
              <a:t>Instant response, lowest cost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0" y="4398264"/>
            <a:ext cx="5577840" cy="749808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44165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Structured Output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690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Guaranteed JSON schema — every field maps</a:t>
            </a:r>
            <a:br/>
            <a:r>
              <a:t>directly to your Sage chart of accounts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5193792"/>
            <a:ext cx="5577840" cy="749808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0760" y="5212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Confidence Scoring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486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Every extracted field gets a confidence %</a:t>
            </a:r>
            <a:br/>
            <a:r>
              <a:t>95%+ = auto-approve, &lt;80% = flag for review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0" y="5989320"/>
            <a:ext cx="5577840" cy="749808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0760" y="60076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Learning Loop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62819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Corrections feed back into the system</a:t>
            </a:r>
            <a:br/>
            <a:r>
              <a:t>Accuracy improves with every invoice processed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74320"/>
            <a:ext cx="640080" cy="64008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Intelligent Job Coding — 5-Dimensional Auto-Coding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AI predicts all 5 coding dimensions using signals from KOJO, Procore, and invoice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194560" cy="22860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90FF"/>
                </a:solidFill>
              </a:defRPr>
            </a:pPr>
            <a:r>
              <a:t>GL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5000 - 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Mapped from Sage</a:t>
            </a:r>
            <a:br/>
            <a:r>
              <a:t>chart of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463040"/>
            <a:ext cx="2194560" cy="22860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554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7E20"/>
                </a:solidFill>
              </a:defRPr>
            </a:pPr>
            <a:r>
              <a:t>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965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2401 - Downtown</a:t>
            </a:r>
            <a:br/>
            <a:r>
              <a:t>Medical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Matched via Procore</a:t>
            </a:r>
            <a:br/>
            <a:r>
              <a:t>job 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463040"/>
            <a:ext cx="2194560" cy="22860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554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65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200 - Rough-In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From Procore project</a:t>
            </a:r>
            <a:br/>
            <a:r>
              <a:t>phase 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463040"/>
            <a:ext cx="2194560" cy="22860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554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Cost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965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22-310 - Plumbing</a:t>
            </a:r>
            <a:br/>
            <a:r>
              <a:t>Fixtures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Predicted from invoice</a:t>
            </a:r>
            <a:br/>
            <a:r>
              <a:t>line items +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463040"/>
            <a:ext cx="2194560" cy="22860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5544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Cost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965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 - Material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Determined by vendor</a:t>
            </a:r>
            <a:br/>
            <a:r>
              <a:t>type and description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90FF"/>
                </a:solidFill>
              </a:defRPr>
            </a:pPr>
            <a:r>
              <a:t>How PayFlow AI Determines the Right Codes: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89120"/>
            <a:ext cx="109728" cy="347472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89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t>PO Number Match (KOJO)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3891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Invoice references PO #7823 — KOJO says that PO is for Job 2401, Cost Code 22-310. Instant match.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73168"/>
            <a:ext cx="109728" cy="347472"/>
          </a:xfrm>
          <a:prstGeom prst="round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731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</a:defRPr>
            </a:pPr>
            <a:r>
              <a:t>Job Reference (Procore)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77316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Invoice mentions 'Downtown Medical' — Procore confirms this is Job 2401. Phase and cost codes pulled from project structure.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157216"/>
            <a:ext cx="109728" cy="347472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572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90FF"/>
                </a:solidFill>
              </a:defRPr>
            </a:pPr>
            <a:r>
              <a:t>Vendor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15721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Ferguson Supply has billed to Job 2401 / Code 22-310 for the last 47 invoices. New invoice follows the same pattern.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541264"/>
            <a:ext cx="109728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5412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</a:defRPr>
            </a:pPr>
            <a:r>
              <a:t>Material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554126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Line items include 'copper fittings' and 'PVC pipe' — AI recognizes plumbing materials, assigns cost type 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25312"/>
            <a:ext cx="109728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</a:defRPr>
            </a:pPr>
            <a:r>
              <a:t>Delivery Address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592531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Ship-to address matches the Downtown Medical job site in Procore. Confirms job assignment.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309359"/>
            <a:ext cx="109728" cy="347472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3093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59B6"/>
                </a:solidFill>
              </a:defRPr>
            </a:pPr>
            <a:r>
              <a:t>Correction Learning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6309359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AP clerk corrected cost code from 22-200 to 22-310 twice — AI now defaults to 22-310 for this vendor/material combo.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74320"/>
            <a:ext cx="640080" cy="64008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Three-Way Matching — Invoice vs PO vs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Cross-referencing KOJO purchase orders, Procore budgets, and the invoice in real-time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474720" cy="43891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90FF"/>
                </a:solidFill>
              </a:defRPr>
            </a:pPr>
            <a:r>
              <a:t>Invoice (Received)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Vendor: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Ferguson Supply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414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Invoice #: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441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INV-2026-4891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797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PO Reference: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7797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#7823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181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Amount: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181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$12,400.00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56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Description: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456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Copper fittings, PVC pipe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Job Ref: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Downtown Medical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33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Retention: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133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10% ($1,240)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714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Net Due: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4714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$11,160.00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114800" y="3200400"/>
            <a:ext cx="548640" cy="32004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7863840" y="3200400"/>
            <a:ext cx="548640" cy="32004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54880" y="1463040"/>
            <a:ext cx="2926080" cy="43891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</a:defRPr>
            </a:pPr>
            <a:r>
              <a:t>KOJO Purchase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103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PO #: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7823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2441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Vendor: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4414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Ferguson Supply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27797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Job: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7797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2401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1181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Cost Code: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1181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22-310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34564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PO Amount: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456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$15,000.00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794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Previously Billed: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$2,600.00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41330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Remaining: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133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$12,400.00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447141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Status: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4714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Delivered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0" y="1463040"/>
            <a:ext cx="3200400" cy="43891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7E20"/>
                </a:solidFill>
              </a:defRPr>
            </a:pPr>
            <a:r>
              <a:t>Procore Budget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Job: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21031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2401 - Downtown Med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24414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Code: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2441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22-310 Plumb Fixtures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27797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Budget: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27797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$85,000.00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31181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Committed: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311810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$72,000.00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456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Billed to Date: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34564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$58,200.00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This Invoice: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3794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$12,400.00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4133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Remaining: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$14,400.00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44714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95A5"/>
                </a:solidFill>
              </a:defRPr>
            </a:pPr>
            <a:r>
              <a:t>Status: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447141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Within Budget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6035040"/>
            <a:ext cx="11247120" cy="640080"/>
          </a:xfrm>
          <a:prstGeom prst="roundRect">
            <a:avLst/>
          </a:prstGeom>
          <a:solidFill>
            <a:srgbClr val="1A9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0" y="6080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  Vendor Match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371600" y="6144768"/>
            <a:ext cx="164592" cy="1645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0" y="6080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  Amount Match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57600" y="6144768"/>
            <a:ext cx="164592" cy="1645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60720" y="6080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  PO Match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760720" y="6144768"/>
            <a:ext cx="164592" cy="1645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0" y="6080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  Budget OK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772400" y="6144768"/>
            <a:ext cx="164592" cy="1645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75520" y="6080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  Delivery Confirmed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75520" y="6144768"/>
            <a:ext cx="164592" cy="16459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74320"/>
            <a:ext cx="640080" cy="64008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Validation &amp; Fraud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AI catches errors and anomalies that humans miss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7772400" cy="658368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99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</a:defRPr>
            </a:pPr>
            <a:r>
              <a:t>Duplicate Invoice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39903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Same vendor, same amount, same date = flagged.</a:t>
            </a:r>
            <a:br/>
            <a:r>
              <a:t>Also catches near-duplicates (resubmitted with new number).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66543"/>
            <a:ext cx="7772400" cy="658368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9397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</a:defRPr>
            </a:pPr>
            <a:r>
              <a:t>Math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93975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Line items x qty = line total? Lines sum to subtotal?</a:t>
            </a:r>
            <a:br/>
            <a:r>
              <a:t>Tax calculated correctly? Total matches?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61487"/>
            <a:ext cx="7772400" cy="658368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889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</a:defRPr>
            </a:pPr>
            <a:r>
              <a:t>Over-Budget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8891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This invoice would push Cost Code 22-310 over the</a:t>
            </a:r>
            <a:br/>
            <a:r>
              <a:t>Procore budget. Requires controller approval.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56431"/>
            <a:ext cx="7772400" cy="658368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8386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</a:defRPr>
            </a:pPr>
            <a:r>
              <a:t>Over-Billed vs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483863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Vendor has billed $73,000 against a $72,000 commitment.</a:t>
            </a:r>
            <a:br/>
            <a:r>
              <a:t>Flags overbilling before payment.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51375"/>
            <a:ext cx="7772400" cy="658368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788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</a:defRPr>
            </a:pPr>
            <a:r>
              <a:t>PO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178807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Invoice says PO #7823 but amount exceeds PO remaining</a:t>
            </a:r>
            <a:br/>
            <a:r>
              <a:t>balance. Holds for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19"/>
            <a:ext cx="7772400" cy="658368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7375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</a:defRPr>
            </a:pPr>
            <a:r>
              <a:t>Suspicious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873751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Round-number invoices, new vendor with high first invoice,</a:t>
            </a:r>
            <a:br/>
            <a:r>
              <a:t>remit-to address changed recently.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41263"/>
            <a:ext cx="7772400" cy="658368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56869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Retention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568695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Invoice should hold 10% retention per contract.</a:t>
            </a:r>
            <a:br/>
            <a:r>
              <a:t>AI verifies retention is calculated correctly.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236207"/>
            <a:ext cx="7772400" cy="658368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263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</a:defRPr>
            </a:pPr>
            <a:r>
              <a:t>Lien Waiver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626363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Prior-period lien waiver required before processing</a:t>
            </a:r>
            <a:br/>
            <a:r>
              <a:t>current payment. Flags if missing.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1371600"/>
            <a:ext cx="3200400" cy="51206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90FF"/>
                </a:solidFill>
              </a:defRPr>
            </a:pPr>
            <a:r>
              <a:t>Catch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ECC71"/>
                </a:solidFill>
              </a:defRPr>
            </a:pPr>
            <a:r>
              <a:t>99.2%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0299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Duplicate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514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ECC71"/>
                </a:solidFill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5328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Math Errors Caught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017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ECC71"/>
                </a:solidFill>
              </a:defRPr>
            </a:pPr>
            <a:r>
              <a:t>97%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30358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Over-Budget Flagged</a:t>
            </a:r>
            <a:br/>
            <a:r>
              <a:t>Before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5204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ECC71"/>
                </a:solidFill>
              </a:defRPr>
            </a:pPr>
            <a:r>
              <a:t>94%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3538727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Suspicious Invoices</a:t>
            </a:r>
            <a:br/>
            <a:r>
              <a:t>Identified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02335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E90FF"/>
                </a:solidFill>
              </a:defRPr>
            </a:pPr>
            <a:r>
              <a:t>&lt;2%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4041647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False Positive 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52627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E90FF"/>
                </a:solidFill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4544567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Fraud Losses with</a:t>
            </a:r>
            <a:br/>
            <a:r>
              <a:t>PayFlow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74320"/>
            <a:ext cx="640080" cy="64008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Approval Routing — Right Person, Right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Configurable approval chains based on amount, job, trade, and vendor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99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399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Approver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399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11247120" cy="438912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Under $5,000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965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Standard invoice, PO 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9659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AP Clerk auto-approve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965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Posts to Sage automatically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77440"/>
            <a:ext cx="11247120" cy="438912"/>
          </a:xfrm>
          <a:prstGeom prst="roundRect">
            <a:avLst/>
          </a:prstGeom>
          <a:solidFill>
            <a:srgbClr val="1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23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$5,000 - $25,000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423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Within budget, PO matched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423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Project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423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Email + mobile notification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834640"/>
            <a:ext cx="11247120" cy="438912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803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$25,000 - $100,000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880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Any invoice this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8803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PM + 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880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Sequential approval chain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291840"/>
            <a:ext cx="11247120" cy="438912"/>
          </a:xfrm>
          <a:prstGeom prst="roundRect">
            <a:avLst/>
          </a:prstGeom>
          <a:solidFill>
            <a:srgbClr val="1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337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Over $100,000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337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Large invoice or no 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337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PM + Controller + CFO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337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Three-level approval required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49039"/>
            <a:ext cx="11247120" cy="438912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7947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Over Budget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7947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Exceeds Procore 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37947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Controller (mandatory)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7947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Budget override required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206240"/>
            <a:ext cx="11247120" cy="438912"/>
          </a:xfrm>
          <a:prstGeom prst="roundRect">
            <a:avLst/>
          </a:prstGeom>
          <a:solidFill>
            <a:srgbClr val="1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2519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No PO 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2519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No KOJO PO found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42519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AP Manager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2519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Must create or link PO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663440"/>
            <a:ext cx="11247120" cy="438912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7091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New Vendor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7091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First invoice from vendor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47091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Controller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7091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Verify W-9, COI, setup in Sage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120640"/>
            <a:ext cx="11247120" cy="438912"/>
          </a:xfrm>
          <a:prstGeom prst="roundRect">
            <a:avLst/>
          </a:prstGeom>
          <a:solidFill>
            <a:srgbClr val="1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1663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Change Order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51663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References a CO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51663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PM who approved the CO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51663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Verify CO amount in Procore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577840"/>
            <a:ext cx="11247120" cy="438912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6235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Retention Release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0" y="56235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Final payment / retention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562355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PM + Controller + CFO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56235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A5"/>
                </a:solidFill>
              </a:defRPr>
            </a:pPr>
            <a:r>
              <a:t>Lien waiver required first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6217920"/>
            <a:ext cx="11247120" cy="457200"/>
          </a:xfrm>
          <a:prstGeom prst="roundRect">
            <a:avLst/>
          </a:prstGeom>
          <a:solidFill>
            <a:srgbClr val="1A9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2453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Approvers can review and approve from email, mobile app, or web dashboard — with full invoice image and AI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74320"/>
            <a:ext cx="640080" cy="64008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Sage 300 CRE Integration — Approved to Posted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Approved invoices push directly into Sage — no re-keying, no errors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84F"/>
                </a:solidFill>
              </a:defRPr>
            </a:pPr>
            <a:r>
              <a:t>What We Pull FROM 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5A5"/>
                </a:solidFill>
              </a:defRPr>
            </a:pPr>
            <a:r>
              <a:t>Keeps PayFlow AI in sync with your accounting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493776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84F"/>
                </a:solidFill>
              </a:defRPr>
            </a:pPr>
            <a:r>
              <a:t>Chart of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Full GL structure so AI codes to valid accounts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80360"/>
            <a:ext cx="493776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84F"/>
                </a:solidFill>
              </a:defRPr>
            </a:pPr>
            <a:r>
              <a:t>Vendor Master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All vendors, payment terms, 1099 status, addresses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493776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935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84F"/>
                </a:solidFill>
              </a:defRPr>
            </a:pPr>
            <a:r>
              <a:t>Job Cost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Jobs, phases, cost codes, cost types from 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51960"/>
            <a:ext cx="493776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79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84F"/>
                </a:solidFill>
              </a:defRPr>
            </a:pPr>
            <a:r>
              <a:t>Open 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537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Existing unpaid invoices to prevent duplicates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493776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65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84F"/>
                </a:solidFill>
              </a:defRPr>
            </a:pPr>
            <a:r>
              <a:t>Payment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395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What's been paid, when, check numbers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23560"/>
            <a:ext cx="493776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50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84F"/>
                </a:solidFill>
              </a:defRPr>
            </a:pPr>
            <a:r>
              <a:t>Tax Codes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253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Sales tax, use tax rates by jurisdiction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90FF"/>
                </a:solidFill>
              </a:defRPr>
            </a:pPr>
            <a:r>
              <a:t>What We Push TO 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5A5"/>
                </a:solidFill>
              </a:defRPr>
            </a:pPr>
            <a:r>
              <a:t>Approved invoices post with zero manual entry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194560"/>
            <a:ext cx="512064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2219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</a:defRPr>
            </a:pPr>
            <a:r>
              <a:t>AP Invoice Entry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4963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Full invoice header: vendor, date, amount, terms, due 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880360"/>
            <a:ext cx="512064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9077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</a:defRPr>
            </a:pPr>
            <a:r>
              <a:t>Distribution 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1821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Each line coded to GL/Job/Phase/Cost Code/Cost Type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566160"/>
            <a:ext cx="512064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5935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</a:defRPr>
            </a:pPr>
            <a:r>
              <a:t>Retention Entry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86791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Retention held posts to retainage payable automatically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251960"/>
            <a:ext cx="512064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279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</a:defRPr>
            </a:pPr>
            <a:r>
              <a:t>Tax Allocation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5537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Correct tax codes applied per line item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937760"/>
            <a:ext cx="512064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9651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</a:defRPr>
            </a:pPr>
            <a:r>
              <a:t>Document Attachment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239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Original invoice PDF attached to the Sage transaction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5623560"/>
            <a:ext cx="5120640" cy="6400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56509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</a:defRPr>
            </a:pPr>
            <a:r>
              <a:t>Approval Trail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9253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Who approved, when, any notes — full audit history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6537960"/>
            <a:ext cx="11247120" cy="228600"/>
          </a:xfrm>
          <a:prstGeom prst="roundRect">
            <a:avLst/>
          </a:prstGeom>
          <a:solidFill>
            <a:srgbClr val="1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95A5"/>
                </a:solidFill>
              </a:defRPr>
            </a:pPr>
            <a:r>
              <a:t>Two-way sync runs every 15 minutes — PayFlow AI always reflects current Sage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KOJO Integration — Procurement to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Closing the loop between purchasing and accounts payable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</a:defRPr>
            </a:pPr>
            <a:r>
              <a:t>What PayFlow AI Gets from KOJO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4937760" cy="5943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t>Purchase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PO number, vendor, line items, amounts, job assignment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4937760" cy="5943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t>Material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What was ordered, quantities, unit prices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4937760" cy="5943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101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t>Delivery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Confirmed deliveries — was material actually received?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4937760" cy="5943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02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t>Vendor Quotes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Original quoted prices to compare against invoice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72000"/>
            <a:ext cx="4937760" cy="5943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902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t>Change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46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PO modifications, additions, price adjustments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12080"/>
            <a:ext cx="4937760" cy="5943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303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t>Order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Full purchasing history per vendor per job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852160"/>
            <a:ext cx="4937760" cy="59436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704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t>Buyout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264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Budget vs committed vs purchased amounts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What This Enables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011680"/>
            <a:ext cx="5120640" cy="8686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0299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Instant PO 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2860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Invoice arrives referencing PO #7823.</a:t>
            </a:r>
            <a:br/>
            <a:r>
              <a:t>KOJO confirms: vendor, amount, job — matched in seconds.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926080"/>
            <a:ext cx="5120640" cy="8686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9443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Price Verification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200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KOJO quote said $14.50/fitting.</a:t>
            </a:r>
            <a:br/>
            <a:r>
              <a:t>Invoice charges $16.00/fitting.</a:t>
            </a:r>
            <a:br/>
            <a:r>
              <a:t>Flag: vendor overcharged by 10%.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840480"/>
            <a:ext cx="5120640" cy="8686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8587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Delivery Confirmation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114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Invoice says 200 fittings delivered.</a:t>
            </a:r>
            <a:br/>
            <a:r>
              <a:t>KOJO shows 180 received.</a:t>
            </a:r>
            <a:br/>
            <a:r>
              <a:t>Flag: billed for 20 undelivered items.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754880"/>
            <a:ext cx="5120640" cy="8686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7731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Remaining Balance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029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PO total: $15,000. Previously billed: $2,600.</a:t>
            </a:r>
            <a:br/>
            <a:r>
              <a:t>This invoice: $12,400. Remaining: $0.</a:t>
            </a:r>
            <a:br/>
            <a:r>
              <a:t>All checks pass.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5669280"/>
            <a:ext cx="5120640" cy="86868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56875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Auto-Coding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943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PO was coded to Job 2401 / 22-310 in KOJO.</a:t>
            </a:r>
            <a:br/>
            <a:r>
              <a:t>Invoice inherits the same codes automatically.</a:t>
            </a:r>
            <a:br/>
            <a:r>
              <a:t>No manual coding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Procore Integration — Project Intelligence for 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Every invoice validated against real-time project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7E20"/>
                </a:solidFill>
              </a:defRPr>
            </a:pPr>
            <a:r>
              <a:t>What PayFlow AI Gets from Procore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120640" cy="5486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</a:defRPr>
            </a:pPr>
            <a:r>
              <a:t>Active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Job list, addresses, status, project managers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96312"/>
            <a:ext cx="5120640" cy="5486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</a:defRPr>
            </a:pPr>
            <a:r>
              <a:t>Budget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523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Original budget, revised budget, approved changes per cost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72384"/>
            <a:ext cx="5120640" cy="5486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906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</a:defRPr>
            </a:pPr>
            <a:r>
              <a:t>Commitments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28415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Subcontracts, POs — contracted amounts and billed-to-date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48456"/>
            <a:ext cx="5120640" cy="5486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667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</a:defRPr>
            </a:pPr>
            <a:r>
              <a:t>Change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04487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Approved COs with amounts, tied to specific cost codes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24528"/>
            <a:ext cx="5120640" cy="5486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428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</a:defRPr>
            </a:pPr>
            <a:r>
              <a:t>Cost Codes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805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Full cost code structure unique to each project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00600"/>
            <a:ext cx="5120640" cy="5486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188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</a:defRPr>
            </a:pPr>
            <a:r>
              <a:t>Subcontractors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566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Sub list, contact info, trade, compliance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76672"/>
            <a:ext cx="5120640" cy="5486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9495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</a:defRPr>
            </a:pPr>
            <a:r>
              <a:t>Daily Logs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327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Field activity records — verify labor invoices against actual 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952744"/>
            <a:ext cx="5120640" cy="5486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97103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E20"/>
                </a:solidFill>
              </a:defRPr>
            </a:pPr>
            <a:r>
              <a:t>RFIs &amp; Submittals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087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Context for material changes that affect invoicing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What This Enables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1920240"/>
            <a:ext cx="5120640" cy="749808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19385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Budget Guardian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21762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Every invoice checked against Procore budget.</a:t>
            </a:r>
            <a:br/>
            <a:r>
              <a:t>Alert before a cost code goes over budget — not after.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697480"/>
            <a:ext cx="5120640" cy="749808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71576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Contract Compliance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29535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Sub billed $73K against $72K commitment.</a:t>
            </a:r>
            <a:br/>
            <a:r>
              <a:t>Flagged: overbilling by $1,000 before payment.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474720"/>
            <a:ext cx="5120640" cy="749808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34930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Change Order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7307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Invoice references CO #14.</a:t>
            </a:r>
            <a:br/>
            <a:r>
              <a:t>Procore confirms CO #14 approved for $8,500.</a:t>
            </a:r>
            <a:br/>
            <a:r>
              <a:t>Amount validated automatically.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251960"/>
            <a:ext cx="5120640" cy="749808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27024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Over/Under Billing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5079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Compare % complete in Procore vs % billed.</a:t>
            </a:r>
            <a:br/>
            <a:r>
              <a:t>Catch front-loading before it becomes a cash problem.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5029200"/>
            <a:ext cx="5120640" cy="749808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504748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Job Profitability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2852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Real-time cost vs budget by job.</a:t>
            </a:r>
            <a:br/>
            <a:r>
              <a:t>Alert PMs when a job is trending over budget.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5806440"/>
            <a:ext cx="5120640" cy="749808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5824727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Compliance Check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60624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Sub's COI expired 3 days ago.</a:t>
            </a:r>
            <a:br/>
            <a:r>
              <a:t>Hold payment until updated certificate received.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Beyond KOJO, Procore &amp; Sage — Other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Programs you may not be thinking about that add massive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5669280" cy="914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9903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</a:defRPr>
            </a:pPr>
            <a:r>
              <a:t>Textura / Oracle CPX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399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</a:defRPr>
            </a:pPr>
            <a:r>
              <a:t>Payment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GC payment tracking, compliance docs,</a:t>
            </a:r>
            <a:br/>
            <a:r>
              <a:t>lien waiver exchange, pay-when-paid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Know when YOU'LL get paid so you know when to pay subs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359152"/>
            <a:ext cx="5669280" cy="914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8658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Viewpoint Vista / Spectrum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3865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</a:defRPr>
            </a:pPr>
            <a:r>
              <a:t>Alternative ERP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If a customer uses Viewpoint instead of Sage,</a:t>
            </a:r>
            <a:br/>
            <a:r>
              <a:t>same integration model applies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3347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Expands addressable market beyond Sage shops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346704"/>
            <a:ext cx="5669280" cy="914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7413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CMiC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741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</a:defRPr>
            </a:pPr>
            <a:r>
              <a:t>Enterprise ERP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2102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Large ENR-ranked contractors use CMiC,</a:t>
            </a:r>
            <a:br/>
            <a:r>
              <a:t>full job cost and AP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62102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Opens the door to $500M+ contractors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334256"/>
            <a:ext cx="5669280" cy="914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3616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</a:defRPr>
            </a:pPr>
            <a:r>
              <a:t>DocuSign / PandaDoc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3616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</a:defRPr>
            </a:pPr>
            <a:r>
              <a:t>E-Signatures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0857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Digital lien waiver signatures,</a:t>
            </a:r>
            <a:br/>
            <a:r>
              <a:t>subcontractor agreement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6085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Eliminates paper chase for compliance docs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321808"/>
            <a:ext cx="5669280" cy="914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CA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49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A01C"/>
                </a:solidFill>
              </a:defRPr>
            </a:pPr>
            <a:r>
              <a:t>QuickBooks Online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</a:defRPr>
            </a:pPr>
            <a:r>
              <a:t>Small Contractor ERP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961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Smaller subs and specialty contractors,</a:t>
            </a:r>
            <a:br/>
            <a:r>
              <a:t>simpler GL and AP 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59612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Entry-level tier for smaller companies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371600"/>
            <a:ext cx="5669280" cy="914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3990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</a:defRPr>
            </a:pPr>
            <a:r>
              <a:t>myCOI / PINS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1399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</a:defRPr>
            </a:pPr>
            <a:r>
              <a:t>Insurance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Auto-verify COI status before payment,</a:t>
            </a:r>
            <a:br/>
            <a:r>
              <a:t>alert on expiring policies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Never pay a sub with expired insurance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359152"/>
            <a:ext cx="5669280" cy="914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38658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</a:defRPr>
            </a:pPr>
            <a:r>
              <a:t>Microsoft 365 / Google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3865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</a:defRPr>
            </a:pPr>
            <a:r>
              <a:t>Email &amp; Calendar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6334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Email ingestion, calendar-based approvals,</a:t>
            </a:r>
            <a:br/>
            <a:r>
              <a:t>Teams/Slack notifications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63347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Meet approvers where they already work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346704"/>
            <a:ext cx="5669280" cy="914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3741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7E20"/>
                </a:solidFill>
              </a:defRPr>
            </a:pPr>
            <a:r>
              <a:t>Plangrid / Autodesk Build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3741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</a:defRPr>
            </a:pPr>
            <a:r>
              <a:t>Field Management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62102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Daily reports, punch lists, inspections</a:t>
            </a:r>
            <a:br/>
            <a:r>
              <a:t>verify work completion before payment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362102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Field verification of invoiced work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334256"/>
            <a:ext cx="5669280" cy="914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</a:defRPr>
            </a:pPr>
            <a:r>
              <a:t>LevelSet / Zlien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3616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</a:defRPr>
            </a:pPr>
            <a:r>
              <a:t>Lien Waiver Mgmt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60857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Automated preliminary notices, lien tracking,</a:t>
            </a:r>
            <a:br/>
            <a:r>
              <a:t>waiver exchange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46085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Complete lien risk management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5321808"/>
            <a:ext cx="5669280" cy="914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A9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9B50"/>
                </a:solidFill>
              </a:defRPr>
            </a:pPr>
            <a:r>
              <a:t>Banking APIs (Plaid)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5A5"/>
                </a:solidFill>
              </a:defRPr>
            </a:pPr>
            <a:r>
              <a:t>Payment Execution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5961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BB"/>
                </a:solidFill>
              </a:defRPr>
            </a:pPr>
            <a:r>
              <a:t>ACH payments, positive pay files,</a:t>
            </a:r>
            <a:br/>
            <a:r>
              <a:t>real-time payment status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559612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End-to-end: invoice to actual payment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4320" y="6400800"/>
            <a:ext cx="11612880" cy="3200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41908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59B6"/>
                </a:solidFill>
              </a:defRPr>
            </a:pPr>
            <a:r>
              <a:t>Phase 1: KOJO + Procore + Sage   |   Phase 2: Textura + DocuSign + myCOI   |   Phase 3: Viewpoint + CMiC + Banking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Construction-Specific AP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Features that generic AP tools like Stampli and Bill.com simply don't have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82296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90FF"/>
                </a:solidFill>
              </a:defRPr>
            </a:pPr>
            <a:r>
              <a:t>AIA G702/G703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17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AI reads progress billing applications — the most complex documents in construction AP. Extracts schedule of values, % complete per line, retention, stored materials, change orders. Compares current application against prior period. Flags overbilling by line item.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9424"/>
            <a:ext cx="11247120" cy="82296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951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</a:defRPr>
            </a:pPr>
            <a:r>
              <a:t>Lien Waiver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95144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Tracks all 4 types: conditional/unconditional, progress/final. Blocks payment if prior-period waiver is missing. Auto-generates waiver requests. Ensures you never pay without proper waiver.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27248"/>
            <a:ext cx="11247120" cy="82296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72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</a:defRPr>
            </a:pPr>
            <a:r>
              <a:t>Retention / Retainage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7296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Tracks retention held per vendor per job. Calculates 10% (or custom %) automatically on each draw. Separate aging for retention payable. Alerts when substantial completion triggers retention release.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05072"/>
            <a:ext cx="11247120" cy="82296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</a:defRPr>
            </a:pPr>
            <a:r>
              <a:t>Certified Payroll &amp; Prevailing Wage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050791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Validates labor invoices against prevailing wage rates by trade and jurisdiction. Cross-references certified payroll reports. Critical for government/public works projects.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82896"/>
            <a:ext cx="11247120" cy="82296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286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Compliance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928616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Real-time view: which subs have current COI, W-9, business license, union status. Blocks payment to non-compliant vendors. Auto-alerts subs 30 days before expiration.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</a:defRPr>
            </a:pPr>
            <a:r>
              <a:t>Change Order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8064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Invoices referencing change orders validated against approved COs in Procore. Tracks: original contract + approved changes = current contract value. Prevents billing beyond scope.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Real Example: One Invoice, Start to Finish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5"/>
                </a:solidFill>
              </a:defRPr>
            </a:pPr>
            <a:r>
              <a:t>Ferguson Supply invoice for copper fittings — Downtown Medical Center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7899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</a:defRPr>
            </a:pPr>
            <a:r>
              <a:t>9:02 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143000"/>
            <a:ext cx="137160" cy="13716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9012" y="1298448"/>
            <a:ext cx="27432" cy="320040"/>
          </a:xfrm>
          <a:prstGeom prst="roundRect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0515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90FF"/>
                </a:solidFill>
              </a:defRPr>
            </a:pPr>
            <a:r>
              <a:t>Invoice Arrives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Ferguson emails invoice #INV-2026-4891 for $12,400</a:t>
            </a:r>
            <a:br/>
            <a:r>
              <a:t>to invoices@markiii.payflowai.com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00199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</a:defRPr>
            </a:pPr>
            <a:r>
              <a:t>9:02 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664207"/>
            <a:ext cx="137160" cy="13716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39012" y="1819655"/>
            <a:ext cx="27432" cy="320040"/>
          </a:xfrm>
          <a:prstGeom prst="roundRect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572767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C7"/>
                </a:solidFill>
              </a:defRPr>
            </a:pPr>
            <a:r>
              <a:t>AI Extraction (3 sec)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57276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Claude reads the invoice image. Extracts: vendor, amount,</a:t>
            </a:r>
            <a:br/>
            <a:r>
              <a:t>PO #7823, 14 line items, 10% retention, Net 30 terms.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121407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</a:defRPr>
            </a:pPr>
            <a:r>
              <a:t>9:02 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2185415"/>
            <a:ext cx="137160" cy="1371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39012" y="2340863"/>
            <a:ext cx="27432" cy="320040"/>
          </a:xfrm>
          <a:prstGeom prst="roundRect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2093975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KOJO PO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093975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PO #7823 found in KOJO: Ferguson, Job 2401, $15K total,</a:t>
            </a:r>
            <a:br/>
            <a:r>
              <a:t>$2,600 previously billed. $12,400 remaining = exact match.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642615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</a:defRPr>
            </a:pPr>
            <a:r>
              <a:t>9:02 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2706623"/>
            <a:ext cx="137160" cy="137160"/>
          </a:xfrm>
          <a:prstGeom prst="round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39012" y="2862071"/>
            <a:ext cx="27432" cy="320040"/>
          </a:xfrm>
          <a:prstGeom prst="roundRect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2615183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7E20"/>
                </a:solidFill>
              </a:defRPr>
            </a:pPr>
            <a:r>
              <a:t>Procore Budget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615183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Job 2401, Code 22-310: $85K budget, $58.2K billed.</a:t>
            </a:r>
            <a:br/>
            <a:r>
              <a:t>This invoice brings it to $70.6K. Within budget.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163823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</a:defRPr>
            </a:pPr>
            <a:r>
              <a:t>9:02 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3227831"/>
            <a:ext cx="137160" cy="1371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39012" y="3383279"/>
            <a:ext cx="27432" cy="320040"/>
          </a:xfrm>
          <a:prstGeom prst="roundRect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313639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Auto-Coded (5D)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136391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GL: 5000 | Job: 2401 | Phase: 200 | Code: 22-310 | Type: M</a:t>
            </a:r>
            <a:br/>
            <a:r>
              <a:t>Confidence: 98% — PO match + vendor history.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685031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</a:defRPr>
            </a:pPr>
            <a:r>
              <a:t>9:02 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3749039"/>
            <a:ext cx="137160" cy="1371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239012" y="3904487"/>
            <a:ext cx="27432" cy="320040"/>
          </a:xfrm>
          <a:prstGeom prst="roundRect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3657599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Validation Passed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65759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No duplicates. Math verified. Within budget. Within PO.</a:t>
            </a:r>
            <a:br/>
            <a:r>
              <a:t>Retention calculated correctly. No flags.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206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</a:defRPr>
            </a:pPr>
            <a:r>
              <a:t>9:02 AM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8720" y="4270247"/>
            <a:ext cx="137160" cy="1371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239012" y="4425696"/>
            <a:ext cx="27432" cy="320040"/>
          </a:xfrm>
          <a:prstGeom prst="roundRect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4178807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</a:defRPr>
            </a:pPr>
            <a:r>
              <a:t>Routed to PM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417880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$12,400 &gt; $5K threshold. Sent to Project Manager (Jake)</a:t>
            </a:r>
            <a:br/>
            <a:r>
              <a:t>for approval. Email + mobile push notification.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472744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</a:defRPr>
            </a:pPr>
            <a:r>
              <a:t>9:14 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88720" y="4791455"/>
            <a:ext cx="137160" cy="1371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239012" y="4946904"/>
            <a:ext cx="27432" cy="320040"/>
          </a:xfrm>
          <a:prstGeom prst="roundRect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3040" y="470001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PM Approves (Mobile)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70001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Jake reviews on his phone at the job site. Sees invoice</a:t>
            </a:r>
            <a:br/>
            <a:r>
              <a:t>image, AI summary, PO match. Taps 'Approve'.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248656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</a:defRPr>
            </a:pPr>
            <a:r>
              <a:t>9:15 AM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88720" y="5312664"/>
            <a:ext cx="137160" cy="137160"/>
          </a:xfrm>
          <a:prstGeom prst="round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239012" y="5468112"/>
            <a:ext cx="27432" cy="320040"/>
          </a:xfrm>
          <a:prstGeom prst="roundRect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63040" y="52212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84F"/>
                </a:solidFill>
              </a:defRPr>
            </a:pPr>
            <a:r>
              <a:t>Posted to Sage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0" y="522122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Invoice posted to Sage AP: Vendor 4021, Job 2401-200-22310-M.</a:t>
            </a:r>
            <a:br/>
            <a:r>
              <a:t>Retention of $1,240 posted to retainage payable. PDF attached.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576986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A95A5"/>
                </a:solidFill>
              </a:defRPr>
            </a:pPr>
            <a:r>
              <a:t>9:15 AM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88720" y="5833872"/>
            <a:ext cx="137160" cy="1371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63040" y="57424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</a:defRPr>
            </a:pPr>
            <a:r>
              <a:t>Done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6160" y="57424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Total time: 13 minutes (12 waiting for PM).</a:t>
            </a:r>
            <a:br/>
            <a:r>
              <a:t>AI processing time: 8 seconds. Manual effort: 0 minutes.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6400800"/>
            <a:ext cx="11247120" cy="320040"/>
          </a:xfrm>
          <a:prstGeom prst="roundRect">
            <a:avLst/>
          </a:prstGeom>
          <a:solidFill>
            <a:srgbClr val="1A9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Old way: 25 minutes of manual data entry + chasing approvals for days  |  PayFlow AI: 13 minutes, zero manual entry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Shadow Mode — Risk-Free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AI processes alongside your team without posting anything — prove accuracy before going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</a:defRPr>
            </a:pPr>
            <a:r>
              <a:t>How It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120640" cy="7772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Week 1-2: Parallel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Your AP team works normally. PayFlow AI processes the same</a:t>
            </a:r>
            <a:br/>
            <a:r>
              <a:t>invoices in the background. Nothing posts to 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5120640" cy="7772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6148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Week 2-3: Compare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358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Side-by-side comparison: what your team coded vs what AI coded.</a:t>
            </a:r>
            <a:br/>
            <a:r>
              <a:t>Measure accuracy by field, by vendor, by job.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5120640" cy="7772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8444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Week 3-4: Accuracy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587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Detailed report: AI was right 94% of the time on GL coding,</a:t>
            </a:r>
            <a:br/>
            <a:r>
              <a:t>97% on job assignment, 99% on amounts.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5120640" cy="7772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07407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Week 4: Fine-Tune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817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Adjust AI prompts based on Mark III's specific patterns.</a:t>
            </a:r>
            <a:br/>
            <a:r>
              <a:t>Train on corrections. Re-run shadow mode.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12080"/>
            <a:ext cx="5120640" cy="7772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Week 5: Go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046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Confidence proven. Switch to live mode.</a:t>
            </a:r>
            <a:br/>
            <a:r>
              <a:t>AI codes, team reviews, approved invoices post to Sage.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</a:defRPr>
            </a:pPr>
            <a:r>
              <a:t>Why This Matters to a CFO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920240"/>
            <a:ext cx="5120640" cy="7772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9385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Zero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21284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Nothing changes in your current workflow until</a:t>
            </a:r>
            <a:br/>
            <a:r>
              <a:t>you've seen proof the AI works.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743200"/>
            <a:ext cx="5120640" cy="7772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76148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Measurable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0358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Hard numbers, not promises. See exactly</a:t>
            </a:r>
            <a:br/>
            <a:r>
              <a:t>how AI performs on YOUR invoices.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566160"/>
            <a:ext cx="5120640" cy="7772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58444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No Disruption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8587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AP team keeps working normally during shadow.</a:t>
            </a:r>
            <a:br/>
            <a:r>
              <a:t>No training, no new processes yet.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389120"/>
            <a:ext cx="5120640" cy="7772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407407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Fast Time-to-Value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6817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4-5 weeks from start to live.</a:t>
            </a:r>
            <a:br/>
            <a:r>
              <a:t>Not a 6-month implementation nightmare.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212080"/>
            <a:ext cx="5120640" cy="777240"/>
          </a:xfrm>
          <a:prstGeom prst="roundRect">
            <a:avLst/>
          </a:prstGeom>
          <a:solidFill>
            <a:srgbClr val="18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2303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Confidence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5046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Your team trusts the AI because they've</a:t>
            </a:r>
            <a:br/>
            <a:r>
              <a:t>seen it work on their own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Flow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How data moves between all connected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560320"/>
            <a:ext cx="3931920" cy="201168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90FF"/>
                </a:solidFill>
              </a:defRPr>
            </a:pPr>
            <a:r>
              <a:t>PayFlow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004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Claude AI Engine</a:t>
            </a:r>
            <a:br/>
            <a:r>
              <a:t>Invoice Processing</a:t>
            </a:r>
            <a:br/>
            <a:r>
              <a:t>Matching &amp; Coding</a:t>
            </a:r>
            <a:br/>
            <a:r>
              <a:t>Validation &amp; Routing</a:t>
            </a:r>
            <a:br/>
            <a:r>
              <a:t>Reporting &amp;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743200" cy="11887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</a:defRPr>
            </a:pPr>
            <a:r>
              <a:t>KOJO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POs, Materials, Quotes</a:t>
            </a:r>
            <a:br/>
            <a:r>
              <a:t>Delivery Confirmations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91840" y="1828800"/>
            <a:ext cx="731520" cy="27432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743200" cy="11887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7E20"/>
                </a:solidFill>
              </a:defRPr>
            </a:pPr>
            <a:r>
              <a:t>Procore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783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Jobs, Budgets, COs</a:t>
            </a:r>
            <a:br/>
            <a:r>
              <a:t>Commitments, Daily Logs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8138160" y="1828800"/>
            <a:ext cx="731520" cy="274320"/>
          </a:xfrm>
          <a:prstGeom prst="leftArrow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0" y="5029200"/>
            <a:ext cx="3931920" cy="11887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51206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A84F"/>
                </a:solidFill>
              </a:defRPr>
            </a:pPr>
            <a:r>
              <a:t>Sage 300 CRE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4406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GL, AP, Vendors, Job Cost</a:t>
            </a:r>
            <a:br/>
            <a:r>
              <a:t>Payments, Tax, Reporting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852160" y="4663440"/>
            <a:ext cx="320040" cy="320040"/>
          </a:xfrm>
          <a:prstGeom prst="downArrow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19"/>
          <p:cNvSpPr/>
          <p:nvPr/>
        </p:nvSpPr>
        <p:spPr>
          <a:xfrm>
            <a:off x="6309360" y="4663440"/>
            <a:ext cx="320040" cy="320040"/>
          </a:xfrm>
          <a:prstGeom prst="upArrow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017520"/>
            <a:ext cx="2743200" cy="914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90FF"/>
                </a:solidFill>
              </a:defRPr>
            </a:pPr>
            <a:r>
              <a:t>Email / Upload / Scanner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Invoice Intake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291840" y="3337560"/>
            <a:ext cx="731520" cy="274320"/>
          </a:xfrm>
          <a:prstGeom prst="rightArrow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0" y="3017520"/>
            <a:ext cx="2743200" cy="914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</a:defRPr>
            </a:pPr>
            <a:r>
              <a:t>Approvers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PM, Controller, CFO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138160" y="3337560"/>
            <a:ext cx="731520" cy="274320"/>
          </a:xfrm>
          <a:prstGeom prst="rightArrow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5029200"/>
            <a:ext cx="2743200" cy="11887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</a:defRPr>
            </a:pPr>
            <a:r>
              <a:t>Compliance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40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myCOI, DocuSign</a:t>
            </a:r>
            <a:br/>
            <a:r>
              <a:t>LevelSet, Banking APIs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5029200"/>
            <a:ext cx="2743200" cy="118872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A9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9B50"/>
                </a:solidFill>
              </a:defRPr>
            </a:pPr>
            <a:r>
              <a:t>Banking / Payments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5440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ACH, Checks, Positive Pay</a:t>
            </a:r>
            <a:br/>
            <a:r>
              <a:t>Payment Execution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Security &amp; Data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Enterprise-grade security for your financial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10058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</a:defRPr>
            </a:pPr>
            <a:r>
              <a:t>SOC 2 Type II Compliant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Annual audit of security controls. Industry standard for financial SaaS.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5486400" cy="10058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33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90FF"/>
                </a:solidFill>
              </a:defRPr>
            </a:pPr>
            <a:r>
              <a:t>256-bit AES Encryption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All data encrypted at rest. TLS 1.3 in transit. Zero plain-text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5486400" cy="10058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2219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Role-Based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Users only see what they need. AP clerk vs PM vs Controller vs CFO.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37760"/>
            <a:ext cx="5486400" cy="10058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0109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</a:defRPr>
            </a:pPr>
            <a:r>
              <a:t>Complete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Every action logged: who viewed, edited, approved, at what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5486400" cy="10058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447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E20"/>
                </a:solidFill>
              </a:defRPr>
            </a:pPr>
            <a:r>
              <a:t>Procore Data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We do NOT train AI on Procore data. Used only for matching and display.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560320"/>
            <a:ext cx="5486400" cy="10058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633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90FF"/>
                </a:solidFill>
              </a:defRPr>
            </a:pPr>
            <a:r>
              <a:t>Multi-Tenant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71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Each customer's data is completely isolated. No cross-tenant access.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49039"/>
            <a:ext cx="5486400" cy="10058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82219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</a:defRPr>
            </a:pPr>
            <a:r>
              <a:t>Automatic Backups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60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Daily encrypted backups with 90-day retention. Point-in-time recovery.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937760"/>
            <a:ext cx="5486400" cy="100584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109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API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49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OAuth 2.0 for all integrations. API keys rotated regularly. Rate limiting.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309360"/>
            <a:ext cx="11247120" cy="365760"/>
          </a:xfrm>
          <a:prstGeom prst="roundRect">
            <a:avLst/>
          </a:prstGeom>
          <a:solidFill>
            <a:srgbClr val="1A9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3276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Your financial data is treated with the same security as a bank — because that's the standard construction CFOs expect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Complete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5A5"/>
                </a:solidFill>
              </a:defRPr>
            </a:pPr>
            <a:r>
              <a:t>From invoice receipt to payment — fully automated, fully integrated, construction-specific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1508760" cy="201168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RECEIVE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Email, upload,</a:t>
            </a:r>
            <a:br/>
            <a:r>
              <a:t>scan, KOJO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20240" y="2240280"/>
            <a:ext cx="182880" cy="182880"/>
          </a:xfrm>
          <a:prstGeom prst="rightArrow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29968" y="1371600"/>
            <a:ext cx="1508760" cy="201168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14173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874519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22860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Claude AI reads</a:t>
            </a:r>
            <a:br/>
            <a:r>
              <a:t>every field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84448" y="2240280"/>
            <a:ext cx="182880" cy="182880"/>
          </a:xfrm>
          <a:prstGeom prst="rightArrow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94176" y="1371600"/>
            <a:ext cx="1508760" cy="20116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14173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1874519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22860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5D auto-coding</a:t>
            </a:r>
            <a:br/>
            <a:r>
              <a:t>from KOJO/Procore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48656" y="2240280"/>
            <a:ext cx="182880" cy="182880"/>
          </a:xfrm>
          <a:prstGeom prst="rightArrow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58384" y="1371600"/>
            <a:ext cx="1508760" cy="20116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4" y="14173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1874519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22860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3-way: Invoice</a:t>
            </a:r>
            <a:br/>
            <a:r>
              <a:t>vs PO vs Budget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912864" y="2240280"/>
            <a:ext cx="182880" cy="182880"/>
          </a:xfrm>
          <a:prstGeom prst="rightArrow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22592" y="1371600"/>
            <a:ext cx="1508760" cy="20116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14173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1874519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22860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Duplicates, math,</a:t>
            </a:r>
            <a:br/>
            <a:r>
              <a:t>fraud, compliance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577072" y="2240280"/>
            <a:ext cx="182880" cy="182880"/>
          </a:xfrm>
          <a:prstGeom prst="rightArrow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86800" y="1371600"/>
            <a:ext cx="1508760" cy="20116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14173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1874519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2860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Smart routing</a:t>
            </a:r>
            <a:br/>
            <a:r>
              <a:t>to right person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241280" y="2240280"/>
            <a:ext cx="182880" cy="182880"/>
          </a:xfrm>
          <a:prstGeom prst="rightArrow">
            <a:avLst/>
          </a:prstGeom>
          <a:solidFill>
            <a:srgbClr val="3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351008" y="1371600"/>
            <a:ext cx="1508760" cy="2011680"/>
          </a:xfrm>
          <a:prstGeom prst="round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51008" y="14173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51008" y="1874519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96728" y="228600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EEEEE"/>
                </a:solidFill>
              </a:defRPr>
            </a:pPr>
            <a:r>
              <a:t>Push to Sage</a:t>
            </a:r>
            <a:br/>
            <a:r>
              <a:t>for payment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</a:defRPr>
            </a:pPr>
            <a:r>
              <a:t>By the Numbers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114800"/>
            <a:ext cx="1508760" cy="13716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206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90FF"/>
                </a:solidFill>
              </a:defRPr>
            </a:pPr>
            <a:r>
              <a:t>3,000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46634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Invoices/month</a:t>
            </a:r>
            <a:br/>
            <a:r>
              <a:t>processed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29968" y="4114800"/>
            <a:ext cx="1508760" cy="13716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29968" y="4206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8 sec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75688" y="46634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Average AI</a:t>
            </a:r>
            <a:br/>
            <a:r>
              <a:t>processing time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94176" y="4114800"/>
            <a:ext cx="1508760" cy="13716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94176" y="4206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</a:defRPr>
            </a:pPr>
            <a:r>
              <a:t>95%+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39896" y="46634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Auto-coded</a:t>
            </a:r>
            <a:br/>
            <a:r>
              <a:t>correctly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58384" y="4114800"/>
            <a:ext cx="1508760" cy="13716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58384" y="4206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</a:defRPr>
            </a:pPr>
            <a:r>
              <a:t>80%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04104" y="46634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Require zero</a:t>
            </a:r>
            <a:br/>
            <a:r>
              <a:t>manual touch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22592" y="4114800"/>
            <a:ext cx="1508760" cy="13716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22592" y="4206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90FF"/>
                </a:solidFill>
              </a:defRPr>
            </a:pPr>
            <a:r>
              <a:t>$0.06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8312" y="46634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Cost per</a:t>
            </a:r>
            <a:br/>
            <a:r>
              <a:t>invoice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114800"/>
            <a:ext cx="1508760" cy="13716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4206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B59B6"/>
                </a:solidFill>
              </a:defRPr>
            </a:pPr>
            <a:r>
              <a:t>13 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46634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Avg receipt</a:t>
            </a:r>
            <a:br/>
            <a:r>
              <a:t>to approval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351008" y="4114800"/>
            <a:ext cx="1508760" cy="13716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51008" y="42062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</a:defRPr>
            </a:pPr>
            <a:r>
              <a:t>$462K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96728" y="466344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Annual AP</a:t>
            </a:r>
            <a:br/>
            <a:r>
              <a:t>cost savings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760720"/>
            <a:ext cx="11247120" cy="914400"/>
          </a:xfrm>
          <a:prstGeom prst="roundRect">
            <a:avLst/>
          </a:prstGeom>
          <a:solidFill>
            <a:srgbClr val="122B4F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90FF"/>
                </a:solidFill>
              </a:defRPr>
            </a:pPr>
            <a:r>
              <a:t>Fully Integrated Ecosystem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" y="6172200"/>
            <a:ext cx="118872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6190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KOJO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240280" y="6172200"/>
            <a:ext cx="1188720" cy="365760"/>
          </a:xfrm>
          <a:prstGeom prst="round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40280" y="6190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Procore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566160" y="6172200"/>
            <a:ext cx="1188720" cy="365760"/>
          </a:xfrm>
          <a:prstGeom prst="roundRect">
            <a:avLst/>
          </a:prstGeom>
          <a:solidFill>
            <a:srgbClr val="00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66160" y="6190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Sage 300 CRE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92040" y="6172200"/>
            <a:ext cx="1188720" cy="36576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92040" y="6190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Textura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0" y="6172200"/>
            <a:ext cx="118872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0" y="6190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DocuSign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543800" y="6172200"/>
            <a:ext cx="118872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43800" y="6190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myCOI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869680" y="6172200"/>
            <a:ext cx="118872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69680" y="6190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Viewpoint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195559" y="6172200"/>
            <a:ext cx="1188720" cy="365760"/>
          </a:xfrm>
          <a:prstGeom prst="roundRect">
            <a:avLst/>
          </a:prstGeom>
          <a:solidFill>
            <a:srgbClr val="1A9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95559" y="61904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Banking APIs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