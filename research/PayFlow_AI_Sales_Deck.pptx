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PayFlow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0CEF0"/>
                </a:solidFill>
                <a:latin typeface="Calibri"/>
              </a:defRPr>
            </a:pPr>
            <a:r>
              <a:t>AI-Powered Accounts Payable Automation for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0"/>
                </a:solidFill>
                <a:latin typeface="Calibri"/>
              </a:defRPr>
            </a:pPr>
            <a:r>
              <a:t>Eliminate manual invoice processing. Save hundreds of thousands per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18096"/>
                </a:solidFill>
                <a:latin typeface="Calibri"/>
              </a:defRPr>
            </a:pPr>
            <a:r>
              <a:t>Confidential Presentation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The Problem: Manual AP Is Costing You a Fortune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COST PER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3E3E"/>
                </a:solidFill>
                <a:latin typeface="Calibri"/>
              </a:defRPr>
            </a:pPr>
            <a:r>
              <a:t>$15-$25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Manual processing (construction)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1887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325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PROCESSING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3E3E"/>
                </a:solidFill>
                <a:latin typeface="Calibri"/>
              </a:defRPr>
            </a:pPr>
            <a:r>
              <a:t>14.6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Average receipt to payment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ERROR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3E3E"/>
                </a:solidFill>
                <a:latin typeface="Calibri"/>
              </a:defRPr>
            </a:pPr>
            <a:r>
              <a:t>2-5%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Manual data entry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1887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25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MISSED DISCOUNTS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600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3E3E"/>
                </a:solidFill>
                <a:latin typeface="Calibri"/>
              </a:defRPr>
            </a:pPr>
            <a:r>
              <a:t>$$$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2/10 Net 30 terms wasted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65D"/>
                </a:solidFill>
                <a:latin typeface="Calibri"/>
              </a:defRPr>
            </a:pPr>
            <a:r>
              <a:t>Construction AP is even harder than normal AP: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  <a:latin typeface="Calibri"/>
              </a:defRPr>
            </a:pPr>
            <a:r>
              <a:t>AIA progress billing (G702/G703) takes 30+ minutes to review manually per application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  <a:latin typeface="Calibri"/>
              </a:defRPr>
            </a:pPr>
            <a:r>
              <a:t>Lien waivers must be collected and verified before every payment — or risk a lien on the property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  <a:latin typeface="Calibri"/>
              </a:defRPr>
            </a:pPr>
            <a:r>
              <a:t>Every invoice must be coded to the correct job, phase, cost code, and cost type (5 dimensions, not 1)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  <a:latin typeface="Calibri"/>
              </a:defRPr>
            </a:pPr>
            <a:r>
              <a:t>Retention tracking across dozens of active projects with different retainage rates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  <a:latin typeface="Calibri"/>
              </a:defRPr>
            </a:pPr>
            <a:r>
              <a:t>Change orders constantly modify contract values — easy to overpay without catching it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  <a:latin typeface="Calibri"/>
              </a:defRPr>
            </a:pPr>
            <a:r>
              <a:t>Compliance documents (COIs, W-9s, sub agreements) expire and must be tracked per vendor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What Manual AP Actually Costs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Calibri"/>
              </a:defRPr>
            </a:pPr>
            <a:r>
              <a:t>Based on 2,000 invoices/month (typical multi-trade contractor):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645920"/>
                <a:gridCol w="1828800"/>
                <a:gridCol w="2011680"/>
              </a:tblGrid>
              <a:tr h="39188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 Invoice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Monthly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AP Staff Labor (data entry, coding, routing, filing)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$240,000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Error Correction &amp; Rework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$2.00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$48,000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Overhead (office, software, printing)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Late Payments &amp; Missed Discounts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$2.50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$5,000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$60,000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Vendor Calls &amp; Follow-ups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>
                    <a:solidFill>
                      <a:srgbClr val="FED7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$16.00</a:t>
                      </a:r>
                    </a:p>
                  </a:txBody>
                  <a:tcPr>
                    <a:solidFill>
                      <a:srgbClr val="FED7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$32,000</a:t>
                      </a:r>
                    </a:p>
                  </a:txBody>
                  <a:tcPr>
                    <a:solidFill>
                      <a:srgbClr val="FED7D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53E3E"/>
                          </a:solidFill>
                          <a:latin typeface="Calibri"/>
                        </a:defRPr>
                      </a:pPr>
                      <a:r>
                        <a:t>$384,000</a:t>
                      </a:r>
                    </a:p>
                  </a:txBody>
                  <a:tcPr>
                    <a:solidFill>
                      <a:srgbClr val="FED7D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0" y="4754880"/>
            <a:ext cx="5760720" cy="1371600"/>
          </a:xfrm>
          <a:prstGeom prst="roundRect">
            <a:avLst/>
          </a:prstGeom>
          <a:solidFill>
            <a:srgbClr val="FED7D7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4846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53E3E"/>
                </a:solidFill>
                <a:latin typeface="Calibri"/>
              </a:defRPr>
            </a:pPr>
            <a:r>
              <a:t>You're spending up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52120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53E3E"/>
                </a:solidFill>
                <a:latin typeface="Calibri"/>
              </a:defRPr>
            </a:pPr>
            <a:r>
              <a:t>$384,000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5760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53E3E"/>
                </a:solidFill>
                <a:latin typeface="Calibri"/>
              </a:defRPr>
            </a:pPr>
            <a:r>
              <a:t>on a process that AI can do in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The Solution: PayFlow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Calibri"/>
              </a:defRPr>
            </a:pPr>
            <a:r>
              <a:t>AI that reads, codes, matches, and routes invoices — built specifically for construction.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AI Invoice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Upload a PDF, photo, or email.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extracts every field in seconds.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99% accuracy, any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79" y="169164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5D Job Costing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predicts GL account, job number,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phase, cost code, and cost type.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Learns from your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9" y="164592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19" y="1691640"/>
            <a:ext cx="329184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9" y="1874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Three-Way PO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9" y="2286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Automatically matches invoices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against POs and receiving reports.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Flags variances instantly.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977640"/>
            <a:ext cx="329184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AIA Billing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Reads G702/G703 progress billing.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Extracts schedule of values.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Verifies against contract.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79" y="3977640"/>
            <a:ext cx="329184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Lien Waiver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4572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reads and classifies waivers.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Blocks payment if missing.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Tracks per vendor per job.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3931920"/>
            <a:ext cx="3383280" cy="192024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3977640"/>
            <a:ext cx="329184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9" y="4160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Fraud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9" y="45720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Detects duplicates, overbilling,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price anomalies, and suspicious</a:t>
            </a:r>
          </a:p>
          <a:p>
            <a:pPr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patterns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How It Works: 5 Seconds, Not 5 Days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828800" y="1554480"/>
            <a:ext cx="45720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Invoice 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Email, upload, scan,</a:t>
            </a:r>
            <a:br/>
            <a:r>
              <a:t>or vendor portal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1371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49040" y="1554480"/>
            <a:ext cx="45720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Reads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Extracts all fields,</a:t>
            </a:r>
            <a:br/>
            <a:r>
              <a:t>line items, amounts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1554480"/>
            <a:ext cx="45720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Codes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Predicts GL, job, phase,</a:t>
            </a:r>
            <a:br/>
            <a:r>
              <a:t>cost code, cost type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1371600"/>
            <a:ext cx="640080" cy="64008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589520" y="1554480"/>
            <a:ext cx="45720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AI Validates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PO match, fraud check,</a:t>
            </a:r>
            <a:br/>
            <a:r>
              <a:t>retention, lien waivers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1371600"/>
            <a:ext cx="640080" cy="64008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09760" y="1554480"/>
            <a:ext cx="457200" cy="27432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Routes or Approves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Auto-approve if confident.</a:t>
            </a:r>
            <a:br/>
            <a:r>
              <a:t>Route to human if not.</a:t>
            </a:r>
          </a:p>
        </p:txBody>
      </p:sp>
      <p:sp>
        <p:nvSpPr>
          <p:cNvPr id="24" name="Oval 23"/>
          <p:cNvSpPr/>
          <p:nvPr/>
        </p:nvSpPr>
        <p:spPr>
          <a:xfrm>
            <a:off x="10652760" y="1371600"/>
            <a:ext cx="640080" cy="640080"/>
          </a:xfrm>
          <a:prstGeom prst="ellipse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  <a:latin typeface="Calibri"/>
              </a:defRPr>
            </a:pPr>
            <a:r>
              <a:t>Posts to 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5603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Calibri"/>
              </a:defRPr>
            </a:pPr>
            <a:r>
              <a:t>Approved invoices sync</a:t>
            </a:r>
            <a:br/>
            <a:r>
              <a:t>directly to your ERP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200400"/>
            <a:ext cx="5120640" cy="3017520"/>
          </a:xfrm>
          <a:prstGeom prst="rect">
            <a:avLst/>
          </a:prstGeom>
          <a:solidFill>
            <a:srgbClr val="FE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53E3E"/>
                </a:solidFill>
                <a:latin typeface="Calibri"/>
              </a:defRPr>
            </a:pPr>
            <a:r>
              <a:t>TODAY (Manual Process)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7490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AP clerk opens email, prints or downloads invoice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Manually types vendor, amount, date into Sage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Looks up job number and cost code in spreadsheet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Walks invoice to PM for approval (or emails and waits)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PM reviews, asks questions, eventually approves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AP clerk posts to Sage, files paper copy</a:t>
            </a:r>
          </a:p>
          <a:p>
            <a:pPr>
              <a:spcAft>
                <a:spcPts val="800"/>
              </a:spcAft>
              <a:defRPr sz="1200">
                <a:solidFill>
                  <a:srgbClr val="C53030"/>
                </a:solidFill>
                <a:latin typeface="Calibri"/>
              </a:defRPr>
            </a:pPr>
            <a:r>
              <a:t>Total: 20-30 minutes per invoice, 14+ days to pay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00400"/>
            <a:ext cx="5120640" cy="3017520"/>
          </a:xfrm>
          <a:prstGeom prst="rect">
            <a:avLst/>
          </a:prstGeom>
          <a:solidFill>
            <a:srgbClr val="C6F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918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A169"/>
                </a:solidFill>
                <a:latin typeface="Calibri"/>
              </a:defRPr>
            </a:pPr>
            <a:r>
              <a:t>WITH PAYFLOW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7490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Invoice arrives via email or upload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AI reads and extracts all fields automatically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AI codes to correct GL, job, phase, cost code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AI matches against PO, checks for anomalies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Auto-approves if confident; routes to PM if not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Approved invoices post directly to Sage</a:t>
            </a:r>
          </a:p>
          <a:p>
            <a:pPr>
              <a:spcAft>
                <a:spcPts val="800"/>
              </a:spcAft>
              <a:defRPr sz="1200">
                <a:solidFill>
                  <a:srgbClr val="276749"/>
                </a:solidFill>
                <a:latin typeface="Calibri"/>
              </a:defRPr>
            </a:pPr>
            <a:r>
              <a:t>Total: 5 seconds per invoice, same-day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The ROI: Payback in Weeks, Not Years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651760"/>
              </a:tblGrid>
              <a:tr h="381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(Current)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PayFlow AI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Cost per 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$16-$25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$2-$4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$12-$21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Processing time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20-30 minutes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 seconds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99.5% faster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Error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2-5%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&lt;0.5%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90% fewer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Invoices per FTE per hour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2.9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50+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17x more productive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Late payment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&lt;2%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38A169"/>
                          </a:solidFill>
                          <a:latin typeface="Calibri"/>
                        </a:defRPr>
                      </a:pPr>
                      <a:r>
                        <a:t>Early-pay discounts captured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749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Annual Impact (at 2,000 invoices/month):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CURRENT ANNUAL AP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53E3E"/>
                </a:solidFill>
                <a:latin typeface="Calibri"/>
              </a:defRPr>
            </a:pPr>
            <a:r>
              <a:t>$384,000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Labor + errors + overhead + hidden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0624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43434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WITH PAYFLOW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B6CB0"/>
                </a:solidFill>
                <a:latin typeface="Calibri"/>
              </a:defRPr>
            </a:pPr>
            <a:r>
              <a:t>$48,000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1206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Reduced staff + software subscription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206240"/>
            <a:ext cx="33832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3434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177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A169"/>
                </a:solidFill>
                <a:latin typeface="Calibri"/>
              </a:defRPr>
            </a:pPr>
            <a:r>
              <a:t>$336,000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120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568"/>
                </a:solidFill>
                <a:latin typeface="Calibri"/>
              </a:defRPr>
            </a:pPr>
            <a:r>
              <a:t>87% reduction in AP processing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A169"/>
                </a:solidFill>
                <a:latin typeface="Calibri"/>
              </a:defRPr>
            </a:pPr>
            <a:r>
              <a:t>ROI: The software pays for itself in the first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Built for Construction, Not Adapted From Generic 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Calibri"/>
              </a:defRPr>
            </a:pPr>
            <a:r>
              <a:t>Generic AP tools don't understand construction. We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What Generic AP Tools Can't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Read AIA G702/G703 progress billing forms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Track retention/retainage per vendor per job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Require lien waivers before releasing payment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Code to 5 dimensions (GL + job + phase + cost code + type)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Verify invoices against evolving contract values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Detect overbilling beyond contract + change orders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Track COI expiration and subcontractor compliance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Handle multi-entity routing (Mechanical LLC, Electrical LLC)</a:t>
            </a:r>
          </a:p>
          <a:p>
            <a:pPr>
              <a:spcAft>
                <a:spcPts val="800"/>
              </a:spcAft>
              <a:defRPr sz="1300">
                <a:solidFill>
                  <a:srgbClr val="C53030"/>
                </a:solidFill>
                <a:latin typeface="Calibri"/>
              </a:defRPr>
            </a:pPr>
            <a:r>
              <a:t>Understand prevailing wage and certified payroll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A169"/>
                </a:solidFill>
                <a:latin typeface="Calibri"/>
              </a:defRPr>
            </a:pPr>
            <a:r>
              <a:t>What PayFlow AI Does Natively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AI reads and extracts G702/G703 fields automatically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Retention dashboard tracks held amounts across all jobs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Blocks payment if conditional lien waiver is missing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AI predicts all 5 cost dimensions per line item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Tracks original contract + change orders vs. billed-to-date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Flags invoices that exceed approved contract amounts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Alerts when insurance certificates expire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Routes to correct entity based on job and trade</a:t>
            </a:r>
          </a:p>
          <a:p>
            <a:pPr>
              <a:spcAft>
                <a:spcPts val="800"/>
              </a:spcAft>
              <a:defRPr sz="1300">
                <a:solidFill>
                  <a:srgbClr val="276749"/>
                </a:solidFill>
                <a:latin typeface="Calibri"/>
              </a:defRPr>
            </a:pPr>
            <a:r>
              <a:t>Verifies labor rates against prevailing wage tables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Integrates With Your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Calibri"/>
              </a:defRPr>
            </a:pPr>
            <a:r>
              <a:t>No rip-and-replace. PayFlow AI plugs into what you already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2926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2560320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365D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Calibri"/>
              </a:defRPr>
            </a:pPr>
            <a:r>
              <a:t>Your Accounting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Two-way sync: chart of accounts,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vendors, jobs, cost codes.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Approved invoices post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45920"/>
            <a:ext cx="2651760" cy="2926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91640"/>
            <a:ext cx="256032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B6CB0"/>
                </a:solidFill>
                <a:latin typeface="Calibri"/>
              </a:defRPr>
            </a:pPr>
            <a:r>
              <a:t>Procore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Calibri"/>
              </a:defRPr>
            </a:pPr>
            <a:r>
              <a:t>Your Project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Pull POs, change orders, budgets,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cost codes. Three-way matching.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Real-time contract tracking.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645920"/>
            <a:ext cx="2651760" cy="2926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256032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8A169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Calibri"/>
              </a:defRPr>
            </a:pPr>
            <a:r>
              <a:t>Invoice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Dedicated inbox for your company.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Vendors email invoices directly.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processes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1645920"/>
            <a:ext cx="2651760" cy="29260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691640"/>
            <a:ext cx="2560320" cy="73152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9202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D6B20"/>
                </a:solidFill>
                <a:latin typeface="Calibri"/>
              </a:defRPr>
            </a:pPr>
            <a:r>
              <a:t>Bank / 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Calibri"/>
              </a:defRPr>
            </a:pPr>
            <a:r>
              <a:t>Payment Execution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743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Schedule payments for approved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invoices. ACH, check, or card.</a:t>
            </a:r>
          </a:p>
          <a:p>
            <a:pPr algn="ctr">
              <a:spcAft>
                <a:spcPts val="2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Reconcile automatically.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Data Flow:  Invoices In  &gt;  AI Processes  &gt;  Human Reviews (if needed)  &gt;  Posts to Sage  &gt;  Payment Scheduled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71600" y="5486400"/>
            <a:ext cx="9418320" cy="82296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57784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365D"/>
                </a:solidFill>
                <a:latin typeface="Calibri"/>
              </a:defRPr>
            </a:pPr>
            <a:r>
              <a:t>Your team focuses on exceptions and approvals. The AI handles the other 80%+ automatically.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5568"/>
                </a:solidFill>
                <a:latin typeface="Calibri"/>
              </a:defRPr>
            </a:pPr>
            <a:r>
              <a:t>Your financial data is protected at every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12801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Calibri"/>
              </a:defRPr>
            </a:pPr>
            <a:r>
              <a:t>Data Encryption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AES-256 encryption at rest, TLS 1.2+ in transit.</a:t>
            </a:r>
          </a:p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Your data is encrypted end-to-end, always.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2801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Calibri"/>
              </a:defRPr>
            </a:pPr>
            <a:r>
              <a:t>AI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Invoice data is processed via API — never used to train AI models.</a:t>
            </a:r>
          </a:p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Your data stays your data. Period.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303520" cy="12801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Every action logged: who uploaded, what AI extracted,</a:t>
            </a:r>
          </a:p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who approved, what changed, and when.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108960"/>
            <a:ext cx="5303520" cy="12801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246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661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AP clerks, project managers, controllers, and CFOs</a:t>
            </a:r>
          </a:p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each see only what they need.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5303520" cy="12801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Calibri"/>
              </a:defRPr>
            </a:pPr>
            <a:r>
              <a:t>SOC 2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Enterprise-grade security controls.</a:t>
            </a:r>
          </a:p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Annual third-party audits.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63440"/>
            <a:ext cx="5303520" cy="12801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800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65D"/>
                </a:solidFill>
                <a:latin typeface="Calibri"/>
              </a:defRPr>
            </a:pPr>
            <a:r>
              <a:t>Data Ownership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You own your data. Always. Full export available.</a:t>
            </a:r>
          </a:p>
          <a:p>
            <a:pPr>
              <a:spcAft>
                <a:spcPts val="100"/>
              </a:spcAft>
              <a:defRPr sz="1200">
                <a:solidFill>
                  <a:srgbClr val="4A5568"/>
                </a:solidFill>
                <a:latin typeface="Calibri"/>
              </a:defRPr>
            </a:pPr>
            <a:r>
              <a:t>If you leave, your data leaves with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Implementation: Fast, Low-Risk, High-Reward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56032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Setup &amp; 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Connect Sage and Procore.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Import chart of accounts,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jobs, vendors, cost 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256032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447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AI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Process your real invoices.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Tune AI to your patterns.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Verify accuracy.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256032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5-6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Shadow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processes alongside your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team. Compare results.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Build confidence.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371600"/>
            <a:ext cx="265176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1417320"/>
            <a:ext cx="2560320" cy="45720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44475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7-8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Go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37744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AI handles routine invoices.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Team focuses on exceptions.</a:t>
            </a:r>
          </a:p>
          <a:p>
            <a:pPr algn="ctr">
              <a:spcAft>
                <a:spcPts val="3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Start saving immediately.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3383280" cy="109728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  <a:latin typeface="Calibri"/>
              </a:defRPr>
            </a:pPr>
            <a:r>
              <a:t>Zero Disruption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365D"/>
                </a:solidFill>
                <a:latin typeface="Calibri"/>
              </a:defRPr>
            </a:pPr>
            <a:r>
              <a:t>Your team keeps working normally.</a:t>
            </a:r>
            <a:br/>
            <a:r>
              <a:t>AI runs in parallel until you're ready.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572000"/>
            <a:ext cx="3383280" cy="1097280"/>
          </a:xfrm>
          <a:prstGeom prst="roundRect">
            <a:avLst/>
          </a:prstGeom>
          <a:solidFill>
            <a:srgbClr val="C6F6D5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6749"/>
                </a:solidFill>
                <a:latin typeface="Calibri"/>
              </a:defRPr>
            </a:pPr>
            <a:r>
              <a:t>Immediate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83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76749"/>
                </a:solidFill>
                <a:latin typeface="Calibri"/>
              </a:defRPr>
            </a:pPr>
            <a:r>
              <a:t>See ROI from the first week of</a:t>
            </a:r>
            <a:br/>
            <a:r>
              <a:t>go-live. No 6-month wait.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572000"/>
            <a:ext cx="3383280" cy="10972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DD6B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4663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D6B20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9834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D6B20"/>
                </a:solidFill>
                <a:latin typeface="Calibri"/>
              </a:defRPr>
            </a:pPr>
            <a:r>
              <a:t>Shadow mode proves accuracy</a:t>
            </a:r>
            <a:br/>
            <a:r>
              <a:t>before you commit. No surprises.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65D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188720"/>
            <a:ext cx="3200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1234440"/>
            <a:ext cx="3108960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B6CB0"/>
                </a:solidFill>
                <a:latin typeface="Calibri"/>
              </a:defRPr>
            </a:pPr>
            <a: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02C"/>
                </a:solidFill>
                <a:latin typeface="Calibri"/>
              </a:defRPr>
            </a:pPr>
            <a:r>
              <a:t>$500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4320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Up to 1,000 invoices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5 users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Sage integration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Email ingestion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Standard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188720"/>
            <a:ext cx="3200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234440"/>
            <a:ext cx="310896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8A169"/>
                </a:solidFill>
                <a:latin typeface="Calibri"/>
              </a:defRPr>
            </a:pPr>
            <a: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02C"/>
                </a:solidFill>
                <a:latin typeface="Calibri"/>
              </a:defRPr>
            </a:pPr>
            <a:r>
              <a:t>$1,500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774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74320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Up to 5,000 invoices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Unlimited users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Sage + Procore integration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AIA billing support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Lien waiver tracking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Priority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188720"/>
            <a:ext cx="3200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234440"/>
            <a:ext cx="3108960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365D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9202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202C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4320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Unlimited invoices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Unlimited users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All integrations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Dedicated account manager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Custom workflows</a:t>
            </a:r>
          </a:p>
          <a:p>
            <a:pPr>
              <a:spcAft>
                <a:spcPts val="600"/>
              </a:spcAft>
              <a:defRPr sz="1300">
                <a:solidFill>
                  <a:srgbClr val="4A5568"/>
                </a:solidFill>
                <a:latin typeface="Calibri"/>
              </a:defRPr>
            </a:pPr>
            <a:r>
              <a:t>  SLA guarantee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A5568"/>
                </a:solidFill>
                <a:latin typeface="Calibri"/>
              </a:defRPr>
            </a:pPr>
            <a:r>
              <a:t>All plans include: AI invoice extraction, GL coding, fraud detection, approval workflows, and audit trails.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Let's Get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CEF0"/>
                </a:solidFill>
                <a:latin typeface="Calibri"/>
              </a:defRPr>
            </a:pPr>
            <a:r>
              <a:t>Three simple steps to transform your AP process: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0CEF0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Share 50 sample invoices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36118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We'll run them through the AI and show you the results — no commitment.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0CEF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2-week shadow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526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AI processes your invoices alongside your team. Compare accuracy side by side.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20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0CEF0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 live with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440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0"/>
                </a:solidFill>
                <a:latin typeface="Calibri"/>
              </a:defRPr>
            </a:pPr>
            <a:r>
              <a:t>Only when you've seen the results. Start saving from day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18096"/>
                </a:solidFill>
                <a:latin typeface="Calibri"/>
              </a:defRPr>
            </a:pPr>
            <a:r>
              <a:t>PayFlow AI  |  AI-Powered AP Automation for Construction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