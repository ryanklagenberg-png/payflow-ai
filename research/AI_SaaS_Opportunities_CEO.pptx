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PayFlow AI</c:v>
                </c:pt>
              </c:strCache>
            </c:strRef>
          </c:tx>
          <c:spPr>
            <a:solidFill>
              <a:srgbClr val="1E90FF"/>
            </a:solidFill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600</c:v>
                </c:pt>
                <c:pt idx="2">
                  <c:v>3000</c:v>
                </c:pt>
                <c:pt idx="3">
                  <c:v>8000</c:v>
                </c:pt>
                <c:pt idx="4">
                  <c:v>18000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Contract Review</c:v>
                </c:pt>
              </c:strCache>
            </c:strRef>
          </c:tx>
          <c:spPr>
            <a:solidFill>
              <a:srgbClr val="2ECC71"/>
            </a:solidFill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200</c:v>
                </c:pt>
                <c:pt idx="2">
                  <c:v>1200</c:v>
                </c:pt>
                <c:pt idx="3">
                  <c:v>3500</c:v>
                </c:pt>
                <c:pt idx="4">
                  <c:v>8000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Permit Expediting</c:v>
                </c:pt>
              </c:strCache>
            </c:strRef>
          </c:tx>
          <c:spPr>
            <a:solidFill>
              <a:srgbClr val="00B4D8"/>
            </a:solidFill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500</c:v>
                </c:pt>
                <c:pt idx="3">
                  <c:v>2000</c:v>
                </c:pt>
                <c:pt idx="4">
                  <c:v>6000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 Products</c:v>
                </c:pt>
              </c:strCache>
            </c:strRef>
          </c:tx>
          <c:spPr>
            <a:solidFill>
              <a:srgbClr val="9B59B6"/>
            </a:solidFill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300</c:v>
                </c:pt>
                <c:pt idx="3">
                  <c:v>1500</c:v>
                </c:pt>
                <c:pt idx="4">
                  <c:v>5000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04055"/>
            </a:solidFill>
          </a:ln>
        </c:spPr>
        <c:txPr>
          <a:bodyPr/>
          <a:lstStyle/>
          <a:p>
            <a:pPr>
              <a:defRPr sz="12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03045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>
                    <a:solidFill>
                      <a:srgbClr val="8A95A5"/>
                    </a:solidFill>
                  </a:defRPr>
                </a:pPr>
                <a:r>
                  <a:t>Annual Revenue ($K)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304055"/>
            </a:solidFill>
          </a:ln>
        </c:spPr>
        <c:txPr>
          <a:bodyPr/>
          <a:lstStyle/>
          <a:p>
            <a:pPr>
              <a:defRPr sz="1000">
                <a:solidFill>
                  <a:srgbClr val="8A95A5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AI-Powered SaaS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1C40F"/>
                </a:solidFill>
              </a:defRPr>
            </a:pPr>
            <a:r>
              <a:t>High-Margin Products That Solve Expensive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95A5"/>
                </a:solidFill>
              </a:defRPr>
            </a:pPr>
            <a:r>
              <a:t>Strategic Product Portfolio for Maximum Revenue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389120"/>
            <a:ext cx="2011680" cy="13716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526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E90FF"/>
                </a:solidFill>
              </a:defRPr>
            </a:pPr>
            <a:r>
              <a:t>$50B+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029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AI SaaS Market</a:t>
            </a:r>
            <a:br/>
            <a:r>
              <a:t>by 2028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4389120"/>
            <a:ext cx="2011680" cy="13716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39" y="4526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ECC71"/>
                </a:solidFill>
              </a:defRPr>
            </a:pPr>
            <a:r>
              <a:t>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79" y="5029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Cost Reduction</a:t>
            </a:r>
            <a:br/>
            <a:r>
              <a:t>Potential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4389120"/>
            <a:ext cx="2011680" cy="13716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4526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1C40F"/>
                </a:solidFill>
              </a:defRPr>
            </a:pPr>
            <a:r>
              <a:t>10-50x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5029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ROI for</a:t>
            </a:r>
            <a:br/>
            <a:r>
              <a:t>Customers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4389120"/>
            <a:ext cx="2011680" cy="13716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4526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B4D8"/>
                </a:solidFill>
              </a:defRPr>
            </a:pPr>
            <a:r>
              <a:t>$0.02-0.08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19" y="5029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AI Cost Per</a:t>
            </a:r>
            <a:br/>
            <a:r>
              <a:t>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5A5"/>
                </a:solidFill>
              </a:defRPr>
            </a:pPr>
            <a:r>
              <a:t>CEO Strategic Briefing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The Thesis: Why These Products Print Money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146304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645920" cy="45720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441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The Pain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2801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Find Expensive Manual Processes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9164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Every industry has workers doing repetitive document processing — reading, extracting, matching, coding, routing. These tasks cost companies $15-50 per transaction in human labor.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88920"/>
            <a:ext cx="11247120" cy="146304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926079"/>
            <a:ext cx="164592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443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8803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Replace with AI at 99% Lower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291839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Claude AI can read documents, extract structured data, and make decisions at $0.02-0.08 per transaction. What costs a company $25 in labor costs us $0.06 in API calls.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11247120" cy="146304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4526280"/>
            <a:ext cx="1645920" cy="45720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5445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The 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480559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Charge 10% of What They're Spending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89204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If a company spends $25/transaction manually and we charge $2.50/transaction, they save 90% and we make 95%+ gross margins. Everyone wins.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6035040"/>
            <a:ext cx="9418320" cy="6400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60807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C40F"/>
                </a:solidFill>
              </a:defRPr>
            </a:pPr>
            <a:r>
              <a:t>The Formula:  Expensive Manual Process  +  AI Automation  +  Vertical Expertise  =  High-Margin SaaS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Product Portfolio — 8 High-Revenue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5A5"/>
                </a:solidFill>
              </a:defRPr>
            </a:pPr>
            <a:r>
              <a:t>Ranked by revenue potential, speed to market, and strategic synergy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34440"/>
            <a:ext cx="11612880" cy="41148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618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2618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2618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Revenue/Customer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26187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Market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2618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Speed to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2618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1691640"/>
            <a:ext cx="11612880" cy="54864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783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C40F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PayFlow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Construction AP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$1.5-10K/mo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783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700K firms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28800"/>
            <a:ext cx="914400" cy="2743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828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READY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2267712"/>
            <a:ext cx="11612880" cy="548640"/>
          </a:xfrm>
          <a:prstGeom prst="roundRect">
            <a:avLst/>
          </a:prstGeom>
          <a:solidFill>
            <a:srgbClr val="1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3591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C40F"/>
                </a:solidFill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359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AI Contract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3591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Construction Contract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2359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$2-10K/mo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591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700K firms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404872"/>
            <a:ext cx="914400" cy="27432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4048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2843784"/>
            <a:ext cx="11612880" cy="54864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93522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C40F"/>
                </a:solidFill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293522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AI Permit Expediting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293522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Automated Permit Applications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29352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$500-2K/permit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93522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1M+ permits/yr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2980944"/>
            <a:ext cx="914400" cy="27432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3419856"/>
            <a:ext cx="11612880" cy="548640"/>
          </a:xfrm>
          <a:prstGeom prst="roundRect">
            <a:avLst/>
          </a:prstGeom>
          <a:solidFill>
            <a:srgbClr val="1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51129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C40F"/>
                </a:solidFill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35112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AI Insurance Claims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351129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Claims Processing &amp; Fraud Detection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35112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$5-50K/mo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351129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6K carriers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3557015"/>
            <a:ext cx="914400" cy="27432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35570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3995928"/>
            <a:ext cx="11612880" cy="54864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40873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C40F"/>
                </a:solidFill>
              </a:defRPr>
            </a:pPr>
            <a: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40873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AI Medical Coding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40873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ICD-10/CPT Code Prediction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4960" y="40873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$5-30K/mo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0873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1M+ providers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0" y="4133088"/>
            <a:ext cx="91440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0" y="41330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MEDIUM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4320" y="4572000"/>
            <a:ext cx="11612880" cy="548640"/>
          </a:xfrm>
          <a:prstGeom prst="roundRect">
            <a:avLst/>
          </a:prstGeom>
          <a:solidFill>
            <a:srgbClr val="1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4663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C40F"/>
                </a:solidFill>
              </a:defRPr>
            </a:pPr>
            <a: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AI Lien Management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Notice Tracking &amp; Waiver Exchange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9496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$500-2K/mo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4663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700K firms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600" y="4709160"/>
            <a:ext cx="914400" cy="27432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0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74320" y="5148072"/>
            <a:ext cx="11612880" cy="54864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523951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C40F"/>
                </a:solidFill>
              </a:defRPr>
            </a:pPr>
            <a:r>
              <a:t>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52395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AI Estimating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0" y="5239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Automated Bid &amp; Proposal Generation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4960" y="52395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$1-5K/mo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5239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700K firms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29600" y="5285232"/>
            <a:ext cx="91440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0" y="52852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MEDIUM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74320" y="5724144"/>
            <a:ext cx="11612880" cy="548640"/>
          </a:xfrm>
          <a:prstGeom prst="roundRect">
            <a:avLst/>
          </a:prstGeom>
          <a:solidFill>
            <a:srgbClr val="1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5815583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C40F"/>
                </a:solidFill>
              </a:defRPr>
            </a:pPr>
            <a:r>
              <a:t>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5815583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AI Property Mgmt AP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3200" y="5815583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Multi-Property Invoice Processing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94960" y="5815583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$1-5K/mo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0" y="5815583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300K firms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229600" y="5861304"/>
            <a:ext cx="914400" cy="27432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29600" y="58613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74320" y="6355080"/>
            <a:ext cx="11612880" cy="36576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457200" y="6419088"/>
            <a:ext cx="640080" cy="228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430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Ready to build now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743200" y="6419088"/>
            <a:ext cx="640080" cy="22860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4290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Fast to build, reuses AI engine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943600" y="6419088"/>
            <a:ext cx="640080" cy="2286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294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Larger build, higher regulatory bar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45720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PayFlow AI — Construction AP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228600"/>
            <a:ext cx="137160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2468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FLAGSHIP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228600"/>
            <a:ext cx="1645920" cy="365760"/>
          </a:xfrm>
          <a:prstGeom prst="roundRect">
            <a:avLst/>
          </a:prstGeom>
          <a:solidFill>
            <a:srgbClr val="1A9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0" y="2468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READY TO 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914400"/>
            <a:ext cx="5669280" cy="256032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9601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</a:defRPr>
            </a:pPr>
            <a: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Construction companies process 1,000-10,000 invoices per month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417320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099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Manual AP processing costs $15-25 per invoice in labor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55648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482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5-dimensional job coding unique to construction (GL + Job + Phase + Cost Code + Cost Type)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093976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865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AIA progress billing, lien waivers, retention — generic AP tools can't handle these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432304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249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No existing product combines AI + construction-specific workflows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770632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Result: AP departments are the biggest bottleneck in construction finance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108960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914400"/>
            <a:ext cx="5669280" cy="256032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9601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The Opportunity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700,000+ construction firms in the 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417320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7099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$1.5-10K/month per customer ($18-120K ARR)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755648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0482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Our cost: $0.06/invoice. Customer saves: $15-25/invoice.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093976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95%+ gross margins after AI processing costs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2432304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7249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Integrates with KOJO, Procore, Sage — tools they already use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2770632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Procore App Marketplace = free distribution to 16,000 companies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108960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74320" y="3657600"/>
            <a:ext cx="11612880" cy="36576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3675887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Revenue Projection — PayFlow AI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4114800"/>
            <a:ext cx="11612880" cy="365760"/>
          </a:xfrm>
          <a:prstGeom prst="roundRect">
            <a:avLst/>
          </a:prstGeom>
          <a:solidFill>
            <a:srgbClr val="1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133087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90FF"/>
                </a:solidFill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371600" y="4133087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90FF"/>
                </a:solidFill>
              </a:defRPr>
            </a:pPr>
            <a:r>
              <a:t>Customers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413308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90FF"/>
                </a:solidFill>
              </a:defRPr>
            </a:pPr>
            <a:r>
              <a:t>MRR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4133087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90FF"/>
                </a:solidFill>
              </a:defRPr>
            </a:pPr>
            <a:r>
              <a:t>ARR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413308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90FF"/>
                </a:solidFill>
              </a:defRPr>
            </a:pPr>
            <a:r>
              <a:t>Stage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4526280"/>
            <a:ext cx="11612880" cy="384048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572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C40F"/>
                </a:solidFill>
              </a:defRPr>
            </a:pPr>
            <a:r>
              <a:t>Year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45720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5 customers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4572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$7,500/mo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0" y="45720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</a:defRPr>
            </a:pPr>
            <a:r>
              <a:t>$90K ARR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Pilot + first sales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" y="4928616"/>
            <a:ext cx="11612880" cy="384048"/>
          </a:xfrm>
          <a:prstGeom prst="roundRect">
            <a:avLst/>
          </a:prstGeom>
          <a:solidFill>
            <a:srgbClr val="1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49743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C40F"/>
                </a:solidFill>
              </a:defRPr>
            </a:pPr>
            <a:r>
              <a:t>Year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71600" y="49743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25 customers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49743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$50,000/mo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97680" y="49743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</a:defRPr>
            </a:pPr>
            <a:r>
              <a:t>$600K ARR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0" y="49743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Procore marketplace traction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4320" y="5330952"/>
            <a:ext cx="11612880" cy="384048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5376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C40F"/>
                </a:solidFill>
              </a:defRPr>
            </a:pPr>
            <a:r>
              <a:t>Year 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71600" y="53766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100 customers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0" y="5376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$250,000/mo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80" y="53766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</a:defRPr>
            </a:pPr>
            <a:r>
              <a:t>$3M ARR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0" y="5376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Sales team, enterprise tier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74320" y="5733288"/>
            <a:ext cx="11612880" cy="384048"/>
          </a:xfrm>
          <a:prstGeom prst="roundRect">
            <a:avLst/>
          </a:prstGeom>
          <a:solidFill>
            <a:srgbClr val="1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57790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C40F"/>
                </a:solidFill>
              </a:defRPr>
            </a:pPr>
            <a:r>
              <a:t>Year 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71600" y="57790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500 customers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43200" y="57790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$1.5M/mo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97680" y="57790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</a:defRPr>
            </a:pPr>
            <a:r>
              <a:t>$18M ARR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0" y="5779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Market leader in construction AP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74320" y="6309360"/>
            <a:ext cx="11612880" cy="411480"/>
          </a:xfrm>
          <a:prstGeom prst="roundRect">
            <a:avLst/>
          </a:prstGeom>
          <a:solidFill>
            <a:srgbClr val="1A9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6336792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STATUS: Architecture complete. 8 AI prompts written. Pilot customer identified (Mark III Construction). Ready for Phase 1 development.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457200" cy="45720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AI Contract Review — Construction Contract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914400"/>
            <a:ext cx="5669280" cy="29260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9601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Construction companies sign hundreds of contracts per year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99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Legal review costs $300-500/hour — most companies skip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55648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482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Subcontractors sign contracts without fully reading them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93976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865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Unfavorable terms discovered only when disputes arise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32304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249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Pay-when-paid clauses, indemnification traps, insurance gaps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770632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One bad contract clause can cost $50K-500K in a dispute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08960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015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No AI tool exists specifically for construction contracts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447288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914400"/>
            <a:ext cx="5669280" cy="29260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9601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What AI Contract Review Does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Upload any subcontract, vendor agreement, or change order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417320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7099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AI reads the entire document in seconds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755648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0482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Flags unfavorable clauses: pay-when-paid, broad indemnification, no-damage-for-delay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093976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3865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Compares payment terms against your standards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432304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7249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Checks insurance requirements match your minimums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2770632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Identifies missing clauses (retainage, dispute resolution, lien rights)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108960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4015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Generates a risk score and plain-English summary for the PM or CFO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447288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74320" y="4023360"/>
            <a:ext cx="5669280" cy="256032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4069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C40F"/>
                </a:solidFill>
              </a:defRPr>
            </a:pPr>
            <a:r>
              <a:t>Revenue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Per contract review: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4526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</a:defRPr>
            </a:pPr>
            <a:r>
              <a:t>$200-500 per contract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846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Monthly subscription: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</a:defRPr>
            </a:pPr>
            <a:r>
              <a:t>$2,000-10,000/month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16635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Enterprise (unlimited):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0" y="51663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</a:defRPr>
            </a:pPr>
            <a:r>
              <a:t>$50,000-100,000/year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48639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Our AI cost per contract: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54863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</a:defRPr>
            </a:pPr>
            <a:r>
              <a:t>~$0.15-0.30 (Opus for complex legal)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8064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Gross margin: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17520" y="58064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</a:defRPr>
            </a:pPr>
            <a:r>
              <a:t>95%+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1264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Target market: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17520" y="61264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700K construction firms + 50K law firms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4023360"/>
            <a:ext cx="5669280" cy="256032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4069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90FF"/>
                </a:solidFill>
              </a:defRPr>
            </a:pPr>
            <a:r>
              <a:t>Strategic Value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5262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Same customers as PayFlow AI — construction companies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4572000"/>
            <a:ext cx="109728" cy="109728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48463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Bundle with PayFlow: AP automation + contract review = higher ARPU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0" y="4892040"/>
            <a:ext cx="109728" cy="109728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516635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Reuses the same Claude AI engine and document processing pipeline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0" y="5212079"/>
            <a:ext cx="109728" cy="109728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548639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Cross-sell: every PayFlow customer is a contract review prospect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0" y="5532119"/>
            <a:ext cx="109728" cy="109728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0" y="580643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Defensive moat: competitors can't easily replicate construction expertise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0" y="5852159"/>
            <a:ext cx="109728" cy="109728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0" y="612647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Data flywheel: every contract reviewed improves the AI's clause library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0" y="6172199"/>
            <a:ext cx="109728" cy="109728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457200" cy="4572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AI Permit Expediting — Automated Permit Applications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914400"/>
            <a:ext cx="5669280" cy="22860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9601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Permit applications take 2-4 weeks to prepare manually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Permit expediters charge $5,000-15,000 per project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37360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Applications get rejected 30-40% of the time for errors or missing info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57400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317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Each rejection delays the project 2-6 weeks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377440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517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1M+ building permits issued annually in the 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697480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718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No one is automating this with AI yet — massive first-mover opportunity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17520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914400"/>
            <a:ext cx="5669280" cy="22860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9601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What AI Permit Expediting Does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3716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Upload construction drawings (blueprints, plans) — Claude reads them visually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417320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6916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AI auto-fills permit application forms for the specific jurisdiction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737360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0116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Cross-checks plans against local building codes (IBC, IRC, local amendments)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057400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3317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Flags code violations BEFORE submission — reduces rejections by 60-80%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377440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6517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Generates required supporting documents and calculations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697480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9718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Tracks submission status and response deadlines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017520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74320" y="3383280"/>
            <a:ext cx="5669280" cy="18288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3429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C40F"/>
                </a:solidFill>
              </a:defRPr>
            </a:pPr>
            <a:r>
              <a:t>Revenue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Per permit: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3840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$500-2,000 per submission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133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Subscription: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1330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$3,000-15,000/month for high-volume firms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4256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Market size: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4256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</a:defRPr>
            </a:pPr>
            <a:r>
              <a:t>1M+ permits/year x $500 avg = $500M+ market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7183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Our AI cost: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4718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~$0.50-2.00 per permit (blueprint reading is token-heavy)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010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Gross margin: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50109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</a:defRPr>
            </a:pPr>
            <a:r>
              <a:t>90%+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3383280"/>
            <a:ext cx="5669280" cy="18288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3429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</a:defRPr>
            </a:pPr>
            <a:r>
              <a:t>Why This Is a Massive Opportunity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38404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Claude is one of the first AI models that can read blueprints accurately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3886200"/>
            <a:ext cx="109728" cy="10972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1330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No competitor exists — pure greenfield market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4178808"/>
            <a:ext cx="109728" cy="10972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442569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Every project needs permits — residential, commercial, industrial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4471416"/>
            <a:ext cx="109728" cy="10972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471830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Municipalities are moving to digital submissions (ePermitting)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4764024"/>
            <a:ext cx="109728" cy="10972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501091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Same construction customers as PayFlow AI — sell as a suite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0" y="5056632"/>
            <a:ext cx="109728" cy="10972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74320" y="5394960"/>
            <a:ext cx="11612880" cy="36576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541324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C40F"/>
                </a:solidFill>
              </a:defRPr>
            </a:pPr>
            <a:r>
              <a:t>First-Mover Advantage: No AI-powered permit expediting tool exists in the market today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How It Works: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5760" y="6263640"/>
            <a:ext cx="1737360" cy="50292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62819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Upload Plans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286000" y="6263640"/>
            <a:ext cx="1737360" cy="5029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31720" y="62819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 Reads Plans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06240" y="6263640"/>
            <a:ext cx="1737360" cy="5029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51959" y="62819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Code Check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26479" y="6263640"/>
            <a:ext cx="173736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72199" y="62819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Auto-Fill App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046719" y="6263640"/>
            <a:ext cx="173736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92440" y="62819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Flag Issues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966959" y="6263640"/>
            <a:ext cx="1737360" cy="502920"/>
          </a:xfrm>
          <a:prstGeom prst="roundRect">
            <a:avLst/>
          </a:prstGeom>
          <a:solidFill>
            <a:srgbClr val="1A9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12680" y="62819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Submit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457200" cy="4572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AI Insurance Claims — Processing &amp; Fraud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914400"/>
            <a:ext cx="5669280" cy="27432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9601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</a:defRPr>
            </a:pPr>
            <a:r>
              <a:t>The $80 Billion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300M+ insurance claims processed annually in the 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64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Each claim costs $30-50 in manual labor to 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10512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122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Average claim takes 10-15 days to adjudicate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57984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597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Insurance fraud costs the industry $80B/year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05456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072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Claims adjusters manually read documents, cross-reference policies, calculate coverage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52927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546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Same document processing pattern as AP automation — but bigger market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00399"/>
            <a:ext cx="109728" cy="10972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914400"/>
            <a:ext cx="5669280" cy="27432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9601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What Our AI Does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Reads claim documents (photos, PDFs, medical records, police reports)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463040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764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Extracts all claim data into structured format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810512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1122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Cross-references against policy terms and coverage limits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157984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4597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Calculates covered amount vs deductible vs exclusions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505456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8072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Fraud detection: duplicate claims, inflated amounts, suspicious patterns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852927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1546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Routes to the right adjuster with AI recommendation and risk score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200399"/>
            <a:ext cx="109728" cy="10972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74320" y="3840480"/>
            <a:ext cx="3657600" cy="27432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3886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C40F"/>
                </a:solidFill>
              </a:defRPr>
            </a:pPr>
            <a:r>
              <a:t>Revenue Potential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297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A95A5"/>
                </a:solidFill>
              </a:defRPr>
            </a:pPr>
            <a:r>
              <a:t>Per claim: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</a:defRPr>
            </a:pPr>
            <a:r>
              <a:t>$3-10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5994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A95A5"/>
                </a:solidFill>
              </a:defRPr>
            </a:pPr>
            <a:r>
              <a:t>Monthly (mid-size carrier):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4599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</a:defRPr>
            </a:pPr>
            <a:r>
              <a:t>$5,000-50,000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9011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A95A5"/>
                </a:solidFill>
              </a:defRPr>
            </a:pPr>
            <a:r>
              <a:t>Monthly (top-20 carrier):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49011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</a:defRPr>
            </a:pPr>
            <a:r>
              <a:t>$100,000-500,000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2029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A95A5"/>
                </a:solidFill>
              </a:defRPr>
            </a:pPr>
            <a:r>
              <a:t>Market (US claims x $5):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5202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</a:defRPr>
            </a:pPr>
            <a:r>
              <a:t>$1.5B+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504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A95A5"/>
                </a:solidFill>
              </a:defRPr>
            </a:pPr>
            <a:r>
              <a:t>Our AI cost per claim: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880" y="55046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</a:defRPr>
            </a:pPr>
            <a:r>
              <a:t>~$0.05-0.15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806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A95A5"/>
                </a:solidFill>
              </a:defRPr>
            </a:pPr>
            <a:r>
              <a:t>Gross margin: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5806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</a:defRPr>
            </a:pPr>
            <a:r>
              <a:t>95%+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0" y="3840480"/>
            <a:ext cx="3749039" cy="27432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0" y="38862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9C12"/>
                </a:solidFill>
              </a:defRPr>
            </a:pPr>
            <a:r>
              <a:t>Considerations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0" y="42976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Regulated industry — need compliance expertise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7680" y="4343400"/>
            <a:ext cx="109728" cy="109728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45994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Long sales cycles with insurance carriers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97680" y="4645152"/>
            <a:ext cx="109728" cy="109728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97680" y="490118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Existing players: Shift Technology, FRISS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97680" y="4946904"/>
            <a:ext cx="109728" cy="109728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97680" y="520293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Need domain expertise in insurance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97680" y="5248656"/>
            <a:ext cx="109728" cy="109728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80" y="550468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Higher barrier but much larger market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97680" y="5550408"/>
            <a:ext cx="109728" cy="109728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97680" y="5806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Could start with construction insurance niche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97680" y="5852160"/>
            <a:ext cx="109728" cy="109728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046720" y="3840480"/>
            <a:ext cx="3840480" cy="27432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20" y="3886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90FF"/>
                </a:solidFill>
              </a:defRPr>
            </a:pPr>
            <a:r>
              <a:t>Construction Insurance Angle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4297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Start with workers comp claims for construction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29600" y="4343400"/>
            <a:ext cx="109728" cy="109728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0" y="45994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Same customers as PayFlow AI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29600" y="4645152"/>
            <a:ext cx="109728" cy="109728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0" y="49011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Cross-reference with project data from Procore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29600" y="4946904"/>
            <a:ext cx="109728" cy="109728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29600" y="520293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Verify claims against daily logs and job records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29600" y="5248656"/>
            <a:ext cx="109728" cy="109728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29600" y="55046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Unique positioning: construction + insurance + AI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29600" y="5550408"/>
            <a:ext cx="109728" cy="109728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29600" y="5806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Niche entry → expand to broader insurance market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229600" y="5852160"/>
            <a:ext cx="109728" cy="109728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Additional Opportunities (Products 5-8)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868680"/>
            <a:ext cx="11612880" cy="13258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365760" cy="3657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78407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41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59B6"/>
                </a:solidFill>
              </a:defRPr>
            </a:pPr>
            <a:r>
              <a:t>AI Medical 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97840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5A5"/>
                </a:solidFill>
              </a:defRPr>
            </a:pPr>
            <a:r>
              <a:t>ICD-10 / CPT Code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Reads clinical documentation, predicts correct diagnosis and procedure codes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53312"/>
            <a:ext cx="91440" cy="914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Average practice loses 5-10% of revenue to coding errors — AI fixes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536192"/>
            <a:ext cx="91440" cy="914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691639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1M+ healthcare providers, $5-30K/month per practice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719072"/>
            <a:ext cx="91440" cy="914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874519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HIPAA compliance required — higher barrier but massive market ($4.3T healthcare)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901951"/>
            <a:ext cx="91440" cy="914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0574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Same pattern: document in → AI reads → structured output → human reviews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084831"/>
            <a:ext cx="91440" cy="914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4320" y="2286000"/>
            <a:ext cx="11612880" cy="13258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" y="2377440"/>
            <a:ext cx="36576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3957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359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AI Lien &amp; Notice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23957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5A5"/>
                </a:solidFill>
              </a:defRPr>
            </a:pPr>
            <a:r>
              <a:t>Deadline Tracking &amp; Auto-Filing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7432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Tracks preliminary notice deadlines by state — miss one and you lose lien rights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770632"/>
            <a:ext cx="91440" cy="914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9260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Auto-generates and sends notices before deadlines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2953512"/>
            <a:ext cx="91440" cy="914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108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Manages waiver exchange between GCs, subs, and suppliers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136392"/>
            <a:ext cx="91440" cy="914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2918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$500-2K/month per customer — direct add-on to PayFlow 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319272"/>
            <a:ext cx="91440" cy="914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4747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Same customers, same data — highest synergy of any product here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502152"/>
            <a:ext cx="91440" cy="914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74320" y="3703320"/>
            <a:ext cx="11612880" cy="13258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5760" y="3794759"/>
            <a:ext cx="365760" cy="3657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8130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3776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</a:defRPr>
            </a:pPr>
            <a:r>
              <a:t>AI Estimating &amp; Proposals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3813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5A5"/>
                </a:solidFill>
              </a:defRPr>
            </a:pPr>
            <a:r>
              <a:t>Automated Bid Generation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160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Takes project specs or RFPs, generates detailed cost estimates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187952"/>
            <a:ext cx="91440" cy="914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3434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Uses historical bid data to improve accuracy over time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370832"/>
            <a:ext cx="91440" cy="914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5262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Win rates are 10-20% — AI helps bid smarter, not just faster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4553712"/>
            <a:ext cx="91440" cy="914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7091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$1-5K/month per contractor, 700K+ construction firms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4736592"/>
            <a:ext cx="91440" cy="914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892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Medium complexity — needs material pricing databases and labor rate data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4919472"/>
            <a:ext cx="91440" cy="914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74320" y="5120640"/>
            <a:ext cx="11612880" cy="13258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65760" y="5212079"/>
            <a:ext cx="365760" cy="36576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52303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51937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AI Property Management 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66160" y="52303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5A5"/>
                </a:solidFill>
              </a:defRPr>
            </a:pPr>
            <a:r>
              <a:t>Multi-Property Invoice Processing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5778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Same AP automation engine but for property management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5605272"/>
            <a:ext cx="91440" cy="9144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57607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Process maintenance invoices, utility bills, vendor payments across hundreds of properties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5788152"/>
            <a:ext cx="91440" cy="9144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59436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Integrates with Yardi, AppFolio, Buildium instead of Sage/Procore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5971032"/>
            <a:ext cx="91440" cy="9144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300K+ property management companies in the US, $1-5K/month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" y="6153912"/>
            <a:ext cx="91440" cy="9144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63093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Fastest to build — 70% of PayFlow code reused with different integrations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6336792"/>
            <a:ext cx="91440" cy="9144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Combined Revenue Projection — Product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5A5"/>
                </a:solidFill>
              </a:defRPr>
            </a:pPr>
            <a:r>
              <a:t>Staggered launch: each product builds on the same AI engine and customer base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46720" y="1188720"/>
            <a:ext cx="3840480" cy="50292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234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C40F"/>
                </a:solidFill>
              </a:defRPr>
            </a:pPr>
            <a:r>
              <a:t>Portfolio Revenue Summary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691640"/>
            <a:ext cx="3474720" cy="320040"/>
          </a:xfrm>
          <a:prstGeom prst="roundRect">
            <a:avLst/>
          </a:prstGeom>
          <a:solidFill>
            <a:srgbClr val="1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7099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C40F"/>
                </a:solidFill>
              </a:defRPr>
            </a:pPr>
            <a:r>
              <a:t>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7099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C40F"/>
                </a:solidFill>
              </a:defRPr>
            </a:pPr>
            <a:r>
              <a:t>ARR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1709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C40F"/>
                </a:solidFill>
              </a:defRPr>
            </a:pPr>
            <a:r>
              <a:t>Products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057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Year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057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$90K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057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PayFlow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Year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$800K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+ Contract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Year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$5.0M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+ Permit Expediting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291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Year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291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$15.0M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3291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+ Other 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703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Year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703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$37.0M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3703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Full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206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90FF"/>
                </a:solidFill>
              </a:defRPr>
            </a:pPr>
            <a:r>
              <a:t>Key Assumptions: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4805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  Conservative customer acquisition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4507992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6817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  Average $3K/mo per customer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4709160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8828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  Each product launched 12 months apart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4910328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5084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  Same sales team sells all products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5111496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5285231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  95%+ gross margins on all products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5312664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548639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  No external funding required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2480" y="5513831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5687567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  Bootstrapped from PayFlow revenue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5714999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The Unfair Advantage: One AI Engine, Many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5A5"/>
                </a:solidFill>
              </a:defRPr>
            </a:pPr>
            <a:r>
              <a:t>Every product reuses the same core technology — reducing development time and cost by 60-70%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2286000"/>
            <a:ext cx="4572000" cy="22860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90FF"/>
                </a:solidFill>
              </a:defRPr>
            </a:pPr>
            <a:r>
              <a:t>Core AI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8803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  Document ingestion (email, upload, scan, API)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907791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08152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  Claude AI extraction (multimodal vision + structured output)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3108960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328269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  Confidence scoring &amp;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3310128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348386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  Approval routing &amp;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3511296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36850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  User dashboard &amp; reporting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3712464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38862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  Multi-tenant SaaS infrastructure (AWS)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3913632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408736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  Authentication, security, audit trails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4114800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1371600"/>
            <a:ext cx="2926080" cy="10972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463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90FF"/>
                </a:solidFill>
              </a:defRPr>
            </a:pPr>
            <a:r>
              <a:t>PayFlow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Different prompts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057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Different integrations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200400"/>
            <a:ext cx="2926080" cy="10972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291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Contract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657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Different prompts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886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Different integrations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029200"/>
            <a:ext cx="2926080" cy="10972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120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</a:defRPr>
            </a:pPr>
            <a:r>
              <a:t>Permit Expediting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86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Different prompts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715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Different integrations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1371600"/>
            <a:ext cx="2926080" cy="10972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1463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B59B6"/>
                </a:solidFill>
              </a:defRPr>
            </a:pPr>
            <a:r>
              <a:t>Insurance Claims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Different prompts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2057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Different integrations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20" y="3200400"/>
            <a:ext cx="2926080" cy="10972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0" y="3291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9C12"/>
                </a:solidFill>
              </a:defRPr>
            </a:pPr>
            <a:r>
              <a:t>Medical Coding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3657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Different prompts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3886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Different integrations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20" y="5029200"/>
            <a:ext cx="2926080" cy="10972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CA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0" y="5120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A01C"/>
                </a:solidFill>
              </a:defRPr>
            </a:pPr>
            <a:r>
              <a:t>Property Mgmt 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5486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Different prompts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5715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Different integrations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3383280" y="1737360"/>
            <a:ext cx="365760" cy="228600"/>
          </a:xfrm>
          <a:prstGeom prst="rightArrow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Left Arrow 45"/>
          <p:cNvSpPr/>
          <p:nvPr/>
        </p:nvSpPr>
        <p:spPr>
          <a:xfrm>
            <a:off x="8503920" y="1737360"/>
            <a:ext cx="365760" cy="228600"/>
          </a:xfrm>
          <a:prstGeom prst="leftArrow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Arrow 46"/>
          <p:cNvSpPr/>
          <p:nvPr/>
        </p:nvSpPr>
        <p:spPr>
          <a:xfrm>
            <a:off x="3383280" y="3566160"/>
            <a:ext cx="365760" cy="228600"/>
          </a:xfrm>
          <a:prstGeom prst="rightArrow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Left Arrow 47"/>
          <p:cNvSpPr/>
          <p:nvPr/>
        </p:nvSpPr>
        <p:spPr>
          <a:xfrm>
            <a:off x="8503920" y="3566160"/>
            <a:ext cx="365760" cy="228600"/>
          </a:xfrm>
          <a:prstGeom prst="leftArrow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ight Arrow 48"/>
          <p:cNvSpPr/>
          <p:nvPr/>
        </p:nvSpPr>
        <p:spPr>
          <a:xfrm>
            <a:off x="3383280" y="5394960"/>
            <a:ext cx="365760" cy="228600"/>
          </a:xfrm>
          <a:prstGeom prst="rightArrow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Left Arrow 49"/>
          <p:cNvSpPr/>
          <p:nvPr/>
        </p:nvSpPr>
        <p:spPr>
          <a:xfrm>
            <a:off x="8503920" y="5394960"/>
            <a:ext cx="365760" cy="228600"/>
          </a:xfrm>
          <a:prstGeom prst="leftArrow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74320" y="6400800"/>
            <a:ext cx="11612880" cy="32004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41908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90FF"/>
                </a:solidFill>
              </a:defRPr>
            </a:pPr>
            <a:r>
              <a:t>Build the engine once. Change the prompts and integrations. Launch a new product in weeks, not months.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Competitive Moats — Why Competitors Can't Catch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11612880" cy="8686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90FF"/>
                </a:solidFill>
              </a:defRPr>
            </a:pPr>
            <a:r>
              <a:t>Vertical Expertise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960120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Deep domain knowledge in construction AP, contracts, permitting, and compliance. Generic AI tools can't match this specificity. We know the difference between AIA G702 and a standard invoice — Stampli doesn't.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847088"/>
            <a:ext cx="11612880" cy="8686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9280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</a:defRPr>
            </a:pPr>
            <a:r>
              <a:t>Data Flywheel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92807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Every invoice processed, every correction made, every contract reviewed makes the AI smarter. By the time a competitor starts, we have millions of data points they don't. Accuracy compounds over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779776"/>
            <a:ext cx="11612880" cy="8686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254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Integration Lock-In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825496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Connected to KOJO + Procore + Sage + 10 other tools. Ripping out PayFlow means disconnecting everything. Switching cost is months of re-integration. Customers don't switch once embedded.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712464"/>
            <a:ext cx="11612880" cy="8686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581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C40F"/>
                </a:solidFill>
              </a:defRPr>
            </a:pPr>
            <a:r>
              <a:t>Multi-Product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758184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One login, one vendor, multiple products. A CFO buys PayFlow for AP, then adds Contract Review, then Permit Expediting. Each product makes the others stickier. Competitors selling one tool can't compete with a suite.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645152"/>
            <a:ext cx="11612880" cy="8686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690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</a:defRPr>
            </a:pPr>
            <a:r>
              <a:t>Cost Advantage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690872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Claude AI processes at $0.06/invoice while incumbents built their own ML models at 10x the development cost. We're API-native — no $50M investment in training infrastructure. Faster to adapt when AI models improve.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577840"/>
            <a:ext cx="11612880" cy="8686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6235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</a:defRPr>
            </a:pPr>
            <a:r>
              <a:t>First-Mover in Construction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623559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No one has built a comprehensive AI platform for construction back-office. There are point solutions (Stampli for AP, LevelSet for liens) but no unified construction AI platform. We're building the Salesforce of construction finance.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Execution Roadmap — From First Product to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11612880" cy="128016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78992"/>
            <a:ext cx="914400" cy="320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051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Q1-Q2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051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Build PayFlow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051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ECC71"/>
                </a:solidFill>
              </a:defRPr>
            </a:pPr>
            <a:r>
              <a:t>Month 1-6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38988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Complete development (6-month timeline)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1417320"/>
            <a:ext cx="73152" cy="7315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15727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Pilot with Mark III Construction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1600200"/>
            <a:ext cx="73152" cy="7315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175564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Shadow mode → live mode → paying customer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63040" y="1783080"/>
            <a:ext cx="73152" cy="7315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1938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List on Procore App Marketplace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1965960"/>
            <a:ext cx="73152" cy="7315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212140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Revenue: $1.5K/month (1 customer)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2148840"/>
            <a:ext cx="73152" cy="7315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2359152"/>
            <a:ext cx="11612880" cy="128016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60" y="2432304"/>
            <a:ext cx="914400" cy="32004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4505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404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Q3-Q4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404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Scale PayFlow + Start Contract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4048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E90FF"/>
                </a:solidFill>
              </a:defRPr>
            </a:pPr>
            <a:r>
              <a:t>Month 7-12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2743200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Land 5 paying customers from Procore marketplace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63040" y="2770632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40" y="2926080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Begin building AI Contract Review (reuse 70% of engine)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63040" y="2953512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3108960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Bundle pricing: PayFlow + Contract 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63040" y="3136392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63040" y="3291840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Revenue: $7.5K-15K/month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63040" y="3319272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74320" y="3712464"/>
            <a:ext cx="11612880" cy="128016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5760" y="3785616"/>
            <a:ext cx="914400" cy="3200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8039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37581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37581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Launch Contract Review + Start Permits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37581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B4D8"/>
                </a:solidFill>
              </a:defRPr>
            </a:pPr>
            <a:r>
              <a:t>Month 13-24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409651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Contract Review live, sell to existing PayFlow customers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63040" y="4123944"/>
            <a:ext cx="73152" cy="7315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63040" y="427939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Begin Permit Expediting development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63040" y="4306824"/>
            <a:ext cx="73152" cy="7315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63040" y="446227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Hire first salesperson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63040" y="4489704"/>
            <a:ext cx="73152" cy="7315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63040" y="464515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Revenue: $50K+/month, 25+ customers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63040" y="4672584"/>
            <a:ext cx="73152" cy="7315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74320" y="5065776"/>
            <a:ext cx="11612880" cy="128016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65760" y="5138928"/>
            <a:ext cx="914400" cy="32004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51572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SCALE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51114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2028+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0" y="51114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Full Platform + New Verticals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51114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1C40F"/>
                </a:solidFill>
              </a:defRPr>
            </a:pPr>
            <a:r>
              <a:t>Month 25-36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63040" y="544982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Launch Permit Expediting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463040" y="5477256"/>
            <a:ext cx="73152" cy="73152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63040" y="563270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Expand to Lien Management, Property Mgmt AP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463040" y="5660136"/>
            <a:ext cx="73152" cy="73152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63040" y="581558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Consider insurance claims or medical coding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463040" y="5843016"/>
            <a:ext cx="73152" cy="73152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63040" y="599846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  Revenue: $250K+/month, 100+ customers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463040" y="6025896"/>
            <a:ext cx="73152" cy="73152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274320" y="6446520"/>
            <a:ext cx="11612880" cy="32004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" y="646480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C40F"/>
                </a:solidFill>
              </a:defRPr>
            </a:pPr>
            <a:r>
              <a:t>Principle: Each product funds the development of the next. No external funding required. Bootstrap from revenue.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Investment Required vs. Return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5669280" cy="530352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39C12"/>
                </a:solidFill>
              </a:defRPr>
            </a:pPr>
            <a:r>
              <a:t>What It 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PayFlow AI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647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5"/>
                </a:solidFill>
              </a:defRPr>
            </a:pPr>
            <a:r>
              <a:t>6 months, 1 developer + Claude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54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39C12"/>
                </a:solidFill>
              </a:defRPr>
            </a:pPr>
            <a:r>
              <a:t>$0 (sweat equity)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AWS Infrastructure (Year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6771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5"/>
                </a:solidFill>
              </a:defRPr>
            </a:pPr>
            <a:r>
              <a:t>Servers, database, storage,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57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ECC71"/>
                </a:solidFill>
              </a:defRPr>
            </a:pPr>
            <a:r>
              <a:t>$5,000-8,000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Claude API (Year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706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5"/>
                </a:solidFill>
              </a:defRPr>
            </a:pPr>
            <a:r>
              <a:t>Processing invoices during dev +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560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ECC71"/>
                </a:solidFill>
              </a:defRPr>
            </a:pPr>
            <a:r>
              <a:t>$1,000-2,000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Legal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735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5"/>
                </a:solidFill>
              </a:defRPr>
            </a:pPr>
            <a:r>
              <a:t>LLC, trademark, terms of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06323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ECC71"/>
                </a:solidFill>
              </a:defRPr>
            </a:pPr>
            <a:r>
              <a:t>$2,000-5,000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204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Domain &amp; Branding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7647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5"/>
                </a:solidFill>
              </a:defRPr>
            </a:pPr>
            <a:r>
              <a:t>payflowai.com, logo, marketing 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56615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ECC71"/>
                </a:solidFill>
              </a:defRPr>
            </a:pPr>
            <a:r>
              <a:t>$500-1,000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2335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Business Insurance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79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5"/>
                </a:solidFill>
              </a:defRPr>
            </a:pPr>
            <a:r>
              <a:t>E&amp;O + cyber liability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06907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ECC71"/>
                </a:solidFill>
              </a:defRPr>
            </a:pPr>
            <a:r>
              <a:t>$1,200-2,400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2627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Software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8231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5"/>
                </a:solidFill>
              </a:defRPr>
            </a:pPr>
            <a:r>
              <a:t>GitHub, monitoring, email,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57199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ECC71"/>
                </a:solidFill>
              </a:defRPr>
            </a:pPr>
            <a:r>
              <a:t>$500-1,000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2919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SOC 2 Prep (end of Year 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8523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5A5"/>
                </a:solidFill>
              </a:defRPr>
            </a:pPr>
            <a:r>
              <a:t>Compliance readiness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07491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ECC71"/>
                </a:solidFill>
              </a:defRPr>
            </a:pPr>
            <a:r>
              <a:t>$5,000-10,000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623559"/>
            <a:ext cx="5303520" cy="4114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6509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Total Year 1 Cash Investment: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565099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$15,000-30,000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914400"/>
            <a:ext cx="5669280" cy="530352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9601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CC71"/>
                </a:solidFill>
              </a:defRPr>
            </a:pPr>
            <a:r>
              <a:t>What You Get Back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1645920"/>
            <a:ext cx="5303520" cy="64008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17190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Year 1 Revenue (5 customers)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1691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2ECC71"/>
                </a:solidFill>
              </a:defRPr>
            </a:pPr>
            <a:r>
              <a:t>$90,000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2377440"/>
            <a:ext cx="5303520" cy="64008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24505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Year 2 Revenue (25 customers)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2423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2ECC71"/>
                </a:solidFill>
              </a:defRPr>
            </a:pPr>
            <a:r>
              <a:t>$600,000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3108960"/>
            <a:ext cx="5303520" cy="64008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31821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Year 3 Revenue (100 customers)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31546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2ECC71"/>
                </a:solidFill>
              </a:defRPr>
            </a:pPr>
            <a:r>
              <a:t>$3,000,000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3840480"/>
            <a:ext cx="5303520" cy="64008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39136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Year 5 Revenue (full portfolio)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1C40F"/>
                </a:solidFill>
              </a:defRPr>
            </a:pPr>
            <a:r>
              <a:t>$37,000,000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663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90FF"/>
                </a:solidFill>
              </a:defRPr>
            </a:pPr>
            <a:r>
              <a:t>Additional Value: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50292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IP portfolio worth multiples of revenue at exit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0" y="5056632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5257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Platform play valued at 10-20x ARR by acquirers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0" y="5285232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5486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At $37M ARR: company valued at $370M-740M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0" y="5513832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5715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Potential acquirers: Procore, Sage, Oracle, Autodesk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0" y="5742432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0" y="59436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  Or: continue growing independently with 95% margins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3680" y="5971032"/>
            <a:ext cx="73152" cy="7315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Opportunity Is Clear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A95A5"/>
                </a:solidFill>
              </a:defRPr>
            </a:pPr>
            <a:r>
              <a:t>AI is creating a once-in-a-generation opportunity to build vertical SaaS products</a:t>
            </a:r>
            <a:br/>
            <a:r>
              <a:t>that replace expensive manual processes at 95%+ margins.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3200400"/>
            <a:ext cx="2560320" cy="164592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337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39C12"/>
                </a:solidFill>
              </a:defRPr>
            </a:pPr>
            <a:r>
              <a:t>$15-30K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Year 1</a:t>
            </a:r>
            <a:br/>
            <a:r>
              <a:t>Investment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3200400"/>
            <a:ext cx="2560320" cy="164592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3337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$37M ARR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Year 5</a:t>
            </a:r>
            <a:br/>
            <a:r>
              <a:t>Revenue 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200400"/>
            <a:ext cx="2560320" cy="164592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337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1C40F"/>
                </a:solidFill>
              </a:defRPr>
            </a:pPr>
            <a:r>
              <a:t>1,200x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Potential</a:t>
            </a:r>
            <a:br/>
            <a:r>
              <a:t>Return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5120640"/>
            <a:ext cx="7589520" cy="13716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516636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C40F"/>
                </a:solidFill>
              </a:defRPr>
            </a:pPr>
            <a:r>
              <a:t>Recommended Next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532120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Build PayFlow AI first. Prove the model with one paying customer.</a:t>
            </a:r>
            <a:br/>
            <a:r>
              <a:t>Then expand into Contract Review and Permit Expediting.</a:t>
            </a:r>
            <a:br/>
            <a:r>
              <a:t>Each product funds the next. No external capital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