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Cost</c:v>
                </c:pt>
              </c:strCache>
            </c:strRef>
          </c:tx>
          <c:dPt>
            <c:idx val="0"/>
            <c:spPr>
              <a:solidFill>
                <a:srgbClr val="1A365D"/>
              </a:solidFill>
            </c:spPr>
          </c:dPt>
          <c:dPt>
            <c:idx val="1"/>
            <c:spPr>
              <a:solidFill>
                <a:srgbClr val="DD6B20"/>
              </a:solidFill>
            </c:spPr>
          </c:dPt>
          <c:dPt>
            <c:idx val="2"/>
            <c:spPr>
              <a:solidFill>
                <a:srgbClr val="E53E3E"/>
              </a:solidFill>
            </c:spPr>
          </c:dPt>
          <c:dPt>
            <c:idx val="3"/>
            <c:spPr>
              <a:solidFill>
                <a:srgbClr val="2B6CB0"/>
              </a:solidFill>
            </c:spPr>
          </c:dPt>
          <c:dPt>
            <c:idx val="4"/>
            <c:spPr>
              <a:solidFill>
                <a:srgbClr val="4A5568"/>
              </a:solidFill>
            </c:spPr>
          </c:dPt>
          <c:cat>
            <c:strRef>
              <c:f>Sheet1!$A$2:$A$6</c:f>
              <c:strCache>
                <c:ptCount val="5"/>
                <c:pt idx="0">
                  <c:v>AP Staff Labor
$360K</c:v>
                </c:pt>
                <c:pt idx="1">
                  <c:v>Late Payments &amp;
Missed Discounts
$90K</c:v>
                </c:pt>
                <c:pt idx="2">
                  <c:v>Error Correction
$72K</c:v>
                </c:pt>
                <c:pt idx="3">
                  <c:v>Overhead
$36K</c:v>
                </c:pt>
                <c:pt idx="4">
                  <c:v>Vendor
Follow-ups
$18K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360</c:v>
                </c:pt>
                <c:pt idx="1">
                  <c:v>90</c:v>
                </c:pt>
                <c:pt idx="2">
                  <c:v>72</c:v>
                </c:pt>
                <c:pt idx="3">
                  <c:v>36</c:v>
                </c:pt>
                <c:pt idx="4">
                  <c:v>18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 b="1"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 val="b"/>
      <c:txPr>
        <a:bodyPr/>
        <a:lstStyle/>
        <a:p>
          <a:pPr>
            <a:defRPr sz="1000">
              <a:solidFill>
                <a:srgbClr val="4A5568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Current (Manual)</c:v>
                </c:pt>
              </c:strCache>
            </c:strRef>
          </c:tx>
          <c:spPr>
            <a:solidFill>
              <a:srgbClr val="E53E3E"/>
            </a:solidFill>
          </c:spPr>
          <c:cat>
            <c:strRef>
              <c:f>Sheet1!$A$2:$A$2</c:f>
              <c:strCache>
                <c:ptCount val="1"/>
                <c:pt idx="0">
                  <c:v>Annual AP Cost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576000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PayFlow AI</c:v>
                </c:pt>
              </c:strCache>
            </c:strRef>
          </c:tx>
          <c:spPr>
            <a:solidFill>
              <a:srgbClr val="2B6CB0"/>
            </a:solidFill>
          </c:spPr>
          <c:cat>
            <c:strRef>
              <c:f>Sheet1!$A$2:$A$2</c:f>
              <c:strCache>
                <c:ptCount val="1"/>
                <c:pt idx="0">
                  <c:v>Annual AP Cost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114000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Direct Savings</c:v>
                </c:pt>
              </c:strCache>
            </c:strRef>
          </c:tx>
          <c:spPr>
            <a:solidFill>
              <a:srgbClr val="38A169"/>
            </a:solidFill>
          </c:spPr>
          <c:cat>
            <c:strRef>
              <c:f>Sheet1!$A$2:$A$2</c:f>
              <c:strCache>
                <c:ptCount val="1"/>
                <c:pt idx="0">
                  <c:v>Annual AP Cost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462000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sz="14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Discounts Available</c:v>
                </c:pt>
              </c:strCache>
            </c:strRef>
          </c:tx>
          <c:spPr>
            <a:solidFill>
              <a:srgbClr val="E2E8F0"/>
            </a:solidFill>
          </c:spP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8.2</c:v>
                </c:pt>
                <c:pt idx="1">
                  <c:v>7.8</c:v>
                </c:pt>
                <c:pt idx="2">
                  <c:v>9.1</c:v>
                </c:pt>
                <c:pt idx="3">
                  <c:v>8.5</c:v>
                </c:pt>
                <c:pt idx="4">
                  <c:v>10.2</c:v>
                </c:pt>
                <c:pt idx="5">
                  <c:v>9.8</c:v>
                </c:pt>
                <c:pt idx="6">
                  <c:v>11.0</c:v>
                </c:pt>
                <c:pt idx="7">
                  <c:v>10.5</c:v>
                </c:pt>
                <c:pt idx="8">
                  <c:v>9.3</c:v>
                </c:pt>
                <c:pt idx="9">
                  <c:v>8.8</c:v>
                </c:pt>
                <c:pt idx="10">
                  <c:v>9.5</c:v>
                </c:pt>
                <c:pt idx="11">
                  <c:v>10.3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Discounts Captured (Manual)</c:v>
                </c:pt>
              </c:strCache>
            </c:strRef>
          </c:tx>
          <c:spPr>
            <a:solidFill>
              <a:srgbClr val="E53E3E"/>
            </a:solidFill>
          </c:spP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1.2</c:v>
                </c:pt>
                <c:pt idx="1">
                  <c:v>0.8</c:v>
                </c:pt>
                <c:pt idx="2">
                  <c:v>1.5</c:v>
                </c:pt>
                <c:pt idx="3">
                  <c:v>0.9</c:v>
                </c:pt>
                <c:pt idx="4">
                  <c:v>1.1</c:v>
                </c:pt>
                <c:pt idx="5">
                  <c:v>1.3</c:v>
                </c:pt>
                <c:pt idx="6">
                  <c:v>1.0</c:v>
                </c:pt>
                <c:pt idx="7">
                  <c:v>0.7</c:v>
                </c:pt>
                <c:pt idx="8">
                  <c:v>1.4</c:v>
                </c:pt>
                <c:pt idx="9">
                  <c:v>0.9</c:v>
                </c:pt>
                <c:pt idx="10">
                  <c:v>1.2</c:v>
                </c:pt>
                <c:pt idx="11">
                  <c:v>1.1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Discounts Captured (PayFlow AI)</c:v>
                </c:pt>
              </c:strCache>
            </c:strRef>
          </c:tx>
          <c:spPr>
            <a:solidFill>
              <a:srgbClr val="38A169"/>
            </a:solidFill>
          </c:spP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7.0</c:v>
                </c:pt>
                <c:pt idx="1">
                  <c:v>6.6</c:v>
                </c:pt>
                <c:pt idx="2">
                  <c:v>7.8</c:v>
                </c:pt>
                <c:pt idx="3">
                  <c:v>7.2</c:v>
                </c:pt>
                <c:pt idx="4">
                  <c:v>8.7</c:v>
                </c:pt>
                <c:pt idx="5">
                  <c:v>8.3</c:v>
                </c:pt>
                <c:pt idx="6">
                  <c:v>9.4</c:v>
                </c:pt>
                <c:pt idx="7">
                  <c:v>9.0</c:v>
                </c:pt>
                <c:pt idx="8">
                  <c:v>7.9</c:v>
                </c:pt>
                <c:pt idx="9">
                  <c:v>7.5</c:v>
                </c:pt>
                <c:pt idx="10">
                  <c:v>8.1</c:v>
                </c:pt>
                <c:pt idx="11">
                  <c:v>8.8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Amount ($K)</c:v>
                </c:pt>
              </c:strCache>
            </c:strRef>
          </c:tx>
          <c:dPt>
            <c:idx val="0"/>
            <c:spPr>
              <a:solidFill>
                <a:srgbClr val="38A169"/>
              </a:solidFill>
            </c:spPr>
          </c:dPt>
          <c:dPt>
            <c:idx val="1"/>
            <c:spPr>
              <a:solidFill>
                <a:srgbClr val="D69E2E"/>
              </a:solidFill>
            </c:spPr>
          </c:dPt>
          <c:dPt>
            <c:idx val="2"/>
            <c:spPr>
              <a:solidFill>
                <a:srgbClr val="DD6B20"/>
              </a:solidFill>
            </c:spPr>
          </c:dPt>
          <c:dPt>
            <c:idx val="3"/>
            <c:spPr>
              <a:solidFill>
                <a:srgbClr val="E53E3E"/>
              </a:solidFill>
            </c:spPr>
          </c:dPt>
          <c:cat>
            <c:strRef>
              <c:f>Sheet1!$A$2:$A$5</c:f>
              <c:strCache>
                <c:ptCount val="4"/>
                <c:pt idx="0">
                  <c:v>Current
(0-30 days)</c:v>
                </c:pt>
                <c:pt idx="1">
                  <c:v>31-60
days</c:v>
                </c:pt>
                <c:pt idx="2">
                  <c:v>61-90
days</c:v>
                </c:pt>
                <c:pt idx="3">
                  <c:v>90+
days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280</c:v>
                </c:pt>
                <c:pt idx="1">
                  <c:v>140</c:v>
                </c:pt>
                <c:pt idx="2">
                  <c:v>85</c:v>
                </c:pt>
                <c:pt idx="3">
                  <c:v>35</c:v>
                </c:pt>
              </c:numCache>
            </c:numRef>
          </c:val>
        </c:ser>
        <c:dLbls>
          <c:numFmt formatCode="$#,##0&quot;K&quot;" sourceLinked="0"/>
          <c:txPr>
            <a:bodyPr/>
            <a:lstStyle/>
            <a:p>
              <a:pPr>
                <a:defRPr sz="12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AP Cost Savings</c:v>
                </c:pt>
              </c:strCache>
            </c:strRef>
          </c:tx>
          <c:spPr>
            <a:solidFill>
              <a:srgbClr val="38A169"/>
            </a:solidFill>
          </c:spPr>
          <c:cat>
            <c:strRef>
              <c:f>Sheet1!$A$2:$A$4</c:f>
              <c:strCache>
                <c:ptCount val="3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462000</c:v>
                </c:pt>
                <c:pt idx="1">
                  <c:v>487000</c:v>
                </c:pt>
                <c:pt idx="2">
                  <c:v>513000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Early-Pay Discounts Captured</c:v>
                </c:pt>
              </c:strCache>
            </c:strRef>
          </c:tx>
          <c:spPr>
            <a:solidFill>
              <a:srgbClr val="319095"/>
            </a:solidFill>
          </c:spPr>
          <c:cat>
            <c:strRef>
              <c:f>Sheet1!$A$2:$A$4</c:f>
              <c:strCache>
                <c:ptCount val="3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83500</c:v>
                </c:pt>
                <c:pt idx="1">
                  <c:v>92000</c:v>
                </c:pt>
                <c:pt idx="2">
                  <c:v>101000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Tax Optimization</c:v>
                </c:pt>
              </c:strCache>
            </c:strRef>
          </c:tx>
          <c:spPr>
            <a:solidFill>
              <a:srgbClr val="6B46C1"/>
            </a:solidFill>
          </c:spPr>
          <c:cat>
            <c:strRef>
              <c:f>Sheet1!$A$2:$A$4</c:f>
              <c:strCache>
                <c:ptCount val="3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25000</c:v>
                </c:pt>
                <c:pt idx="1">
                  <c:v>35000</c:v>
                </c:pt>
                <c:pt idx="2">
                  <c:v>40000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Avoided Job Losses (early alerts)</c:v>
                </c:pt>
              </c:strCache>
            </c:strRef>
          </c:tx>
          <c:spPr>
            <a:solidFill>
              <a:srgbClr val="DD6B20"/>
            </a:solidFill>
          </c:spPr>
          <c:cat>
            <c:strRef>
              <c:f>Sheet1!$A$2:$A$4</c:f>
              <c:strCache>
                <c:ptCount val="3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50000</c:v>
                </c:pt>
                <c:pt idx="1">
                  <c:v>75000</c:v>
                </c:pt>
                <c:pt idx="2">
                  <c:v>100000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sz="10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AI Accuracy %</c:v>
                </c:pt>
              </c:strCache>
            </c:strRef>
          </c:tx>
          <c:spPr>
            <a:solidFill>
              <a:srgbClr val="2B6CB0"/>
            </a:solidFill>
          </c:spPr>
          <c:cat>
            <c:strRef>
              <c:f>Sheet1!$A$2:$A$8</c:f>
              <c:strCache>
                <c:ptCount val="7"/>
                <c:pt idx="0">
                  <c:v>Invoice #</c:v>
                </c:pt>
                <c:pt idx="1">
                  <c:v>Date</c:v>
                </c:pt>
                <c:pt idx="2">
                  <c:v>Vendor</c:v>
                </c:pt>
                <c:pt idx="3">
                  <c:v>Amount</c:v>
                </c:pt>
                <c:pt idx="4">
                  <c:v>Line Items</c:v>
                </c:pt>
                <c:pt idx="5">
                  <c:v>PO #</c:v>
                </c:pt>
                <c:pt idx="6">
                  <c:v>GL Code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99.5</c:v>
                </c:pt>
                <c:pt idx="1">
                  <c:v>98.5</c:v>
                </c:pt>
                <c:pt idx="2">
                  <c:v>97.5</c:v>
                </c:pt>
                <c:pt idx="3">
                  <c:v>99.5</c:v>
                </c:pt>
                <c:pt idx="4">
                  <c:v>96</c:v>
                </c:pt>
                <c:pt idx="5">
                  <c:v>97</c:v>
                </c:pt>
                <c:pt idx="6">
                  <c:v>92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0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8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38A169"/>
              </a:solidFill>
            </c:spPr>
          </c:dPt>
          <c:dPt>
            <c:idx val="1"/>
            <c:spPr>
              <a:solidFill>
                <a:srgbClr val="319095"/>
              </a:solidFill>
            </c:spPr>
          </c:dPt>
          <c:dPt>
            <c:idx val="2"/>
            <c:spPr>
              <a:solidFill>
                <a:srgbClr val="6B46C1"/>
              </a:solidFill>
            </c:spPr>
          </c:dPt>
          <c:dPt>
            <c:idx val="3"/>
            <c:spPr>
              <a:solidFill>
                <a:srgbClr val="DD6B20"/>
              </a:solidFill>
            </c:spPr>
          </c:dPt>
          <c:dPt>
            <c:idx val="4"/>
            <c:spPr>
              <a:solidFill>
                <a:srgbClr val="E53E3E"/>
              </a:solidFill>
            </c:spPr>
          </c:dPt>
          <c:dPt>
            <c:idx val="5"/>
            <c:spPr>
              <a:solidFill>
                <a:srgbClr val="38A169"/>
              </a:solidFill>
            </c:spPr>
          </c:dPt>
          <c:cat>
            <c:strRef>
              <c:f>Sheet1!$A$2:$A$7</c:f>
              <c:strCache>
                <c:ptCount val="6"/>
                <c:pt idx="0">
                  <c:v>AP Cost
Savings</c:v>
                </c:pt>
                <c:pt idx="1">
                  <c:v>Early-Pay
Discounts</c:v>
                </c:pt>
                <c:pt idx="2">
                  <c:v>Tax
Optimization</c:v>
                </c:pt>
                <c:pt idx="3">
                  <c:v>Avoided
Job Losses</c:v>
                </c:pt>
                <c:pt idx="4">
                  <c:v>Software
Cost</c:v>
                </c:pt>
                <c:pt idx="5">
                  <c:v>NET VALUE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462000</c:v>
                </c:pt>
                <c:pt idx="1">
                  <c:v>83500</c:v>
                </c:pt>
                <c:pt idx="2">
                  <c:v>25000</c:v>
                </c:pt>
                <c:pt idx="3">
                  <c:v>50000</c:v>
                </c:pt>
                <c:pt idx="4">
                  <c:v>-18000</c:v>
                </c:pt>
                <c:pt idx="5">
                  <c:v>602500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sz="12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800" b="1">
                <a:solidFill>
                  <a:srgbClr val="FFFFFF"/>
                </a:solidFill>
                <a:latin typeface="Calibri"/>
              </a:defRPr>
            </a:pPr>
            <a:r>
              <a:t>PayFlow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A0CEF0"/>
                </a:solidFill>
                <a:latin typeface="Calibri"/>
              </a:defRPr>
            </a:pPr>
            <a:r>
              <a:t>AI-Powered Accounts Payable Automation for Construction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BD5E0"/>
                </a:solidFill>
                <a:latin typeface="Calibri"/>
              </a:defRPr>
            </a:pPr>
            <a:r>
              <a:t>Stop spending $576,000/year processing invoices manually.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BD5E0"/>
                </a:solidFill>
                <a:latin typeface="Calibri"/>
              </a:defRPr>
            </a:pPr>
            <a:r>
              <a:t>Start capturing $100,000+ in early-pay discounts you're leaving on the table.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486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18096"/>
                </a:solidFill>
                <a:latin typeface="Calibri"/>
              </a:defRPr>
            </a:pPr>
            <a:r>
              <a:t>Confidential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65D"/>
                </a:solidFill>
                <a:latin typeface="Calibri"/>
              </a:defRPr>
            </a:pPr>
            <a:r>
              <a:t>Your AP Department 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4A5568"/>
                </a:solidFill>
                <a:latin typeface="Calibri"/>
              </a:defRPr>
            </a:pPr>
            <a:r>
              <a:t>Based on 3,000 invoices per month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2860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630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A5568"/>
                </a:solidFill>
                <a:latin typeface="Calibri"/>
              </a:defRPr>
            </a:pPr>
            <a:r>
              <a:t>INVOICES / MONTH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1A365D"/>
                </a:solidFill>
                <a:latin typeface="Calibri"/>
              </a:defRPr>
            </a:pPr>
            <a:r>
              <a:t>3,000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371600"/>
            <a:ext cx="22860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14630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A5568"/>
                </a:solidFill>
                <a:latin typeface="Calibri"/>
              </a:defRPr>
            </a:pPr>
            <a:r>
              <a:t>COST PER INVOICE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16916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E53E3E"/>
                </a:solidFill>
                <a:latin typeface="Calibri"/>
              </a:defRPr>
            </a:pPr>
            <a:r>
              <a:t>$16-$25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1488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5568"/>
                </a:solidFill>
                <a:latin typeface="Calibri"/>
              </a:defRPr>
            </a:pPr>
            <a:r>
              <a:t>Construction average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1371600"/>
            <a:ext cx="22860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89320" y="14630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A5568"/>
                </a:solidFill>
                <a:latin typeface="Calibri"/>
              </a:defRPr>
            </a:pPr>
            <a:r>
              <a:t>MONTHLY AP COST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16916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E53E3E"/>
                </a:solidFill>
                <a:latin typeface="Calibri"/>
              </a:defRPr>
            </a:pPr>
            <a:r>
              <a:t>$48,000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1371600"/>
            <a:ext cx="22860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9640" y="14630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A5568"/>
                </a:solidFill>
                <a:latin typeface="Calibri"/>
              </a:defRPr>
            </a:pPr>
            <a:r>
              <a:t>ANNUAL AP COST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16916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E53E3E"/>
                </a:solidFill>
                <a:latin typeface="Calibri"/>
              </a:defRPr>
            </a:pPr>
            <a:r>
              <a:t>$576,000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731520" y="2743200"/>
          <a:ext cx="50292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6217920" y="2743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65D"/>
                </a:solidFill>
                <a:latin typeface="Calibri"/>
              </a:defRPr>
            </a:pPr>
            <a:r>
              <a:t>Where Your $576,000 Goes: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2004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4A5568"/>
                </a:solidFill>
                <a:latin typeface="Calibri"/>
              </a:defRPr>
            </a:pPr>
            <a:r>
              <a:t>62% ($360K) - Staff manually typing invoice data into Sage</a:t>
            </a:r>
          </a:p>
          <a:p>
            <a:pPr>
              <a:spcAft>
                <a:spcPts val="800"/>
              </a:spcAft>
              <a:defRPr sz="1400">
                <a:solidFill>
                  <a:srgbClr val="4A5568"/>
                </a:solidFill>
                <a:latin typeface="Calibri"/>
              </a:defRPr>
            </a:pPr>
            <a:r>
              <a:t>16% ($90K) - Late payment penalties &amp; missed early-pay discounts</a:t>
            </a:r>
          </a:p>
          <a:p>
            <a:pPr>
              <a:spcAft>
                <a:spcPts val="800"/>
              </a:spcAft>
              <a:defRPr sz="1400">
                <a:solidFill>
                  <a:srgbClr val="4A5568"/>
                </a:solidFill>
                <a:latin typeface="Calibri"/>
              </a:defRPr>
            </a:pPr>
            <a:r>
              <a:t>13% ($72K) - Finding and fixing data entry errors</a:t>
            </a:r>
          </a:p>
          <a:p>
            <a:pPr>
              <a:spcAft>
                <a:spcPts val="800"/>
              </a:spcAft>
              <a:defRPr sz="1400">
                <a:solidFill>
                  <a:srgbClr val="4A5568"/>
                </a:solidFill>
                <a:latin typeface="Calibri"/>
              </a:defRPr>
            </a:pPr>
            <a:r>
              <a:t>6% ($36K) - Office space, software, printing, filing</a:t>
            </a:r>
          </a:p>
          <a:p>
            <a:pPr>
              <a:spcAft>
                <a:spcPts val="800"/>
              </a:spcAft>
              <a:defRPr sz="1400">
                <a:solidFill>
                  <a:srgbClr val="4A5568"/>
                </a:solidFill>
                <a:latin typeface="Calibri"/>
              </a:defRPr>
            </a:pPr>
            <a:r>
              <a:t>3% ($18K) - Calling vendors about payment status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5486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53E3E"/>
                </a:solidFill>
                <a:latin typeface="Calibri"/>
              </a:defRPr>
            </a:pPr>
            <a:r>
              <a:t>And you're leaving $50-100K in early-pay discounts uncaptured.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65D"/>
                </a:solidFill>
                <a:latin typeface="Calibri"/>
              </a:defRPr>
            </a:pPr>
            <a:r>
              <a:t>PayFlow AI: Not Just AP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4A5568"/>
                </a:solidFill>
                <a:latin typeface="Calibri"/>
              </a:defRPr>
            </a:pPr>
            <a:r>
              <a:t>It's a complete financial intelligence platform for construction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417320"/>
            <a:ext cx="3291840" cy="7315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365D"/>
                </a:solidFill>
                <a:latin typeface="Calibri"/>
              </a:defRPr>
            </a:pPr>
            <a:r>
              <a:t>AI Invoice Extraction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Reads any format: PDF, scan, photo, email</a:t>
            </a:r>
          </a:p>
          <a:p>
            <a:pPr algn="l"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99% accuracy, no templates</a:t>
            </a:r>
          </a:p>
          <a:p>
            <a:pPr algn="l"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5 seconds per invoice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371600"/>
            <a:ext cx="33832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60" y="1417320"/>
            <a:ext cx="3291840" cy="7315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5544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365D"/>
                </a:solidFill>
                <a:latin typeface="Calibri"/>
              </a:defRPr>
            </a:pPr>
            <a:r>
              <a:t>5D Job Costing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92024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Predicts GL, job, phase, cost code, type</a:t>
            </a:r>
          </a:p>
          <a:p>
            <a:pPr algn="l"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Learns your patterns over time</a:t>
            </a:r>
          </a:p>
          <a:p>
            <a:pPr algn="l"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Construction-native coding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371600"/>
            <a:ext cx="33832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80" y="1417320"/>
            <a:ext cx="3291840" cy="7315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5544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365D"/>
                </a:solidFill>
                <a:latin typeface="Calibri"/>
              </a:defRPr>
            </a:pPr>
            <a:r>
              <a:t>Three-Way PO Matching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92024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Matches against Procore POs</a:t>
            </a:r>
          </a:p>
          <a:p>
            <a:pPr algn="l"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Flags price &amp; quantity variances</a:t>
            </a:r>
          </a:p>
          <a:p>
            <a:pPr algn="l"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Tracks change order impact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063240"/>
            <a:ext cx="33832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108960"/>
            <a:ext cx="3291840" cy="73152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2461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365D"/>
                </a:solidFill>
                <a:latin typeface="Calibri"/>
              </a:defRPr>
            </a:pPr>
            <a:r>
              <a:t>AIA &amp; Lien Waivers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61188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Reads G702/G703 natively</a:t>
            </a:r>
          </a:p>
          <a:p>
            <a:pPr algn="l"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Classifies 4 waiver types</a:t>
            </a:r>
          </a:p>
          <a:p>
            <a:pPr algn="l"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Blocks payment if missing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3063240"/>
            <a:ext cx="33832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80560" y="3108960"/>
            <a:ext cx="3291840" cy="73152"/>
          </a:xfrm>
          <a:prstGeom prst="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17720" y="32461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365D"/>
                </a:solidFill>
                <a:latin typeface="Calibri"/>
              </a:defRPr>
            </a:pPr>
            <a:r>
              <a:t>Fraud &amp; Anomaly Detection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361188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Duplicate detection</a:t>
            </a:r>
          </a:p>
          <a:p>
            <a:pPr algn="l"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Overbilling beyond contract</a:t>
            </a:r>
          </a:p>
          <a:p>
            <a:pPr algn="l"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Price spike alerts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063240"/>
            <a:ext cx="33832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83880" y="3108960"/>
            <a:ext cx="3291840" cy="73152"/>
          </a:xfrm>
          <a:prstGeom prst="rect">
            <a:avLst/>
          </a:prstGeom>
          <a:solidFill>
            <a:srgbClr val="6B4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32461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365D"/>
                </a:solidFill>
                <a:latin typeface="Calibri"/>
              </a:defRPr>
            </a:pPr>
            <a:r>
              <a:t>Cash Flow Forecasting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361188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Predicts AP obligations 30-60 days out</a:t>
            </a:r>
          </a:p>
          <a:p>
            <a:pPr algn="l"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Models payment scenarios</a:t>
            </a:r>
          </a:p>
          <a:p>
            <a:pPr algn="l"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Helps plan draws and borrowing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754880"/>
            <a:ext cx="33832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7240" y="4800600"/>
            <a:ext cx="3291840" cy="73152"/>
          </a:xfrm>
          <a:prstGeom prst="rect">
            <a:avLst/>
          </a:prstGeom>
          <a:solidFill>
            <a:srgbClr val="319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9377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365D"/>
                </a:solidFill>
                <a:latin typeface="Calibri"/>
              </a:defRPr>
            </a:pPr>
            <a:r>
              <a:t>Early-Pay Discount Capture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30352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Flags every 2/10 Net 30 opportunity</a:t>
            </a:r>
          </a:p>
          <a:p>
            <a:pPr algn="l"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Prioritizes in approval queue</a:t>
            </a:r>
          </a:p>
          <a:p>
            <a:pPr algn="l"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Target: $50-100K/year captured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34840" y="4754880"/>
            <a:ext cx="33832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480560" y="4800600"/>
            <a:ext cx="3291840" cy="73152"/>
          </a:xfrm>
          <a:prstGeom prst="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17720" y="49377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365D"/>
                </a:solidFill>
                <a:latin typeface="Calibri"/>
              </a:defRPr>
            </a:pPr>
            <a:r>
              <a:t>Job Profitability Alerts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17720" y="530352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Real-time cost vs budget by job</a:t>
            </a:r>
          </a:p>
          <a:p>
            <a:pPr algn="l"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Alerts when costs exceed estimate</a:t>
            </a:r>
          </a:p>
          <a:p>
            <a:pPr algn="l"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Catches bleeding jobs early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38160" y="4754880"/>
            <a:ext cx="33832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183880" y="4800600"/>
            <a:ext cx="3291840" cy="7315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21040" y="49377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365D"/>
                </a:solidFill>
                <a:latin typeface="Calibri"/>
              </a:defRPr>
            </a:pPr>
            <a:r>
              <a:t>Vendor Spend Analytics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530352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Top vendors by spend with trends</a:t>
            </a:r>
          </a:p>
          <a:p>
            <a:pPr algn="l"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Price trend analysis across trades</a:t>
            </a:r>
          </a:p>
          <a:p>
            <a:pPr algn="l"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Consolidation opportunities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65D"/>
                </a:solidFill>
                <a:latin typeface="Calibri"/>
              </a:defRPr>
            </a:pPr>
            <a:r>
              <a:t>How It Works: 5 Seconds, Not 5 Days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1188720"/>
            <a:ext cx="731520" cy="731520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691640" y="1371600"/>
            <a:ext cx="365760" cy="320040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1031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365D"/>
                </a:solidFill>
                <a:latin typeface="Calibri"/>
              </a:defRPr>
            </a:pPr>
            <a:r>
              <a:t>Invoice</a:t>
            </a:r>
            <a:br/>
            <a:r>
              <a:t>Arrives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651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5568"/>
                </a:solidFill>
                <a:latin typeface="Calibri"/>
              </a:defRPr>
            </a:pPr>
            <a:r>
              <a:t>Email, upload,</a:t>
            </a:r>
            <a:br/>
            <a:r>
              <a:t>scan, portal</a:t>
            </a:r>
          </a:p>
        </p:txBody>
      </p:sp>
      <p:sp>
        <p:nvSpPr>
          <p:cNvPr id="8" name="Oval 7"/>
          <p:cNvSpPr/>
          <p:nvPr/>
        </p:nvSpPr>
        <p:spPr>
          <a:xfrm>
            <a:off x="2788920" y="1188720"/>
            <a:ext cx="731520" cy="731520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657600" y="1371600"/>
            <a:ext cx="365760" cy="320040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31720" y="21031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365D"/>
                </a:solidFill>
                <a:latin typeface="Calibri"/>
              </a:defRPr>
            </a:pPr>
            <a:r>
              <a:t>AI Reads</a:t>
            </a:r>
            <a:br/>
            <a:r>
              <a:t>Document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651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5568"/>
                </a:solidFill>
                <a:latin typeface="Calibri"/>
              </a:defRPr>
            </a:pPr>
            <a:r>
              <a:t>Extracts every</a:t>
            </a:r>
            <a:br/>
            <a:r>
              <a:t>field in seconds</a:t>
            </a:r>
          </a:p>
        </p:txBody>
      </p:sp>
      <p:sp>
        <p:nvSpPr>
          <p:cNvPr id="12" name="Oval 11"/>
          <p:cNvSpPr/>
          <p:nvPr/>
        </p:nvSpPr>
        <p:spPr>
          <a:xfrm>
            <a:off x="4754880" y="1188720"/>
            <a:ext cx="731520" cy="731520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623560" y="1371600"/>
            <a:ext cx="365760" cy="320040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21031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365D"/>
                </a:solidFill>
                <a:latin typeface="Calibri"/>
              </a:defRPr>
            </a:pPr>
            <a:r>
              <a:t>AI Codes</a:t>
            </a:r>
            <a:br/>
            <a:r>
              <a:t>to Job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651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5568"/>
                </a:solidFill>
                <a:latin typeface="Calibri"/>
              </a:defRPr>
            </a:pPr>
            <a:r>
              <a:t>GL, job, phase,</a:t>
            </a:r>
            <a:br/>
            <a:r>
              <a:t>cost code, type</a:t>
            </a:r>
          </a:p>
        </p:txBody>
      </p:sp>
      <p:sp>
        <p:nvSpPr>
          <p:cNvPr id="16" name="Oval 15"/>
          <p:cNvSpPr/>
          <p:nvPr/>
        </p:nvSpPr>
        <p:spPr>
          <a:xfrm>
            <a:off x="6720839" y="1188720"/>
            <a:ext cx="731520" cy="731520"/>
          </a:xfrm>
          <a:prstGeom prst="ellipse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589519" y="1371600"/>
            <a:ext cx="365760" cy="320040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39" y="21031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365D"/>
                </a:solidFill>
                <a:latin typeface="Calibri"/>
              </a:defRPr>
            </a:pPr>
            <a:r>
              <a:t>AI Validates</a:t>
            </a:r>
            <a:br/>
            <a:r>
              <a:t>&amp; Matches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39" y="2651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5568"/>
                </a:solidFill>
                <a:latin typeface="Calibri"/>
              </a:defRPr>
            </a:pPr>
            <a:r>
              <a:t>PO match, fraud,</a:t>
            </a:r>
            <a:br/>
            <a:r>
              <a:t>compliance check</a:t>
            </a:r>
          </a:p>
        </p:txBody>
      </p:sp>
      <p:sp>
        <p:nvSpPr>
          <p:cNvPr id="20" name="Oval 19"/>
          <p:cNvSpPr/>
          <p:nvPr/>
        </p:nvSpPr>
        <p:spPr>
          <a:xfrm>
            <a:off x="8686800" y="1188720"/>
            <a:ext cx="731520" cy="731520"/>
          </a:xfrm>
          <a:prstGeom prst="ellipse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555480" y="1371600"/>
            <a:ext cx="365760" cy="320040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21031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365D"/>
                </a:solidFill>
                <a:latin typeface="Calibri"/>
              </a:defRPr>
            </a:pPr>
            <a:r>
              <a:t>Route or</a:t>
            </a:r>
            <a:br/>
            <a:r>
              <a:t>Auto-Approve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651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5568"/>
                </a:solidFill>
                <a:latin typeface="Calibri"/>
              </a:defRPr>
            </a:pPr>
            <a:r>
              <a:t>85%+ straight</a:t>
            </a:r>
            <a:br/>
            <a:r>
              <a:t>through</a:t>
            </a:r>
          </a:p>
        </p:txBody>
      </p:sp>
      <p:sp>
        <p:nvSpPr>
          <p:cNvPr id="24" name="Oval 23"/>
          <p:cNvSpPr/>
          <p:nvPr/>
        </p:nvSpPr>
        <p:spPr>
          <a:xfrm>
            <a:off x="10652760" y="1188720"/>
            <a:ext cx="731520" cy="731520"/>
          </a:xfrm>
          <a:prstGeom prst="ellipse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5560" y="21031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365D"/>
                </a:solidFill>
                <a:latin typeface="Calibri"/>
              </a:defRPr>
            </a:pPr>
            <a:r>
              <a:t>Posts to</a:t>
            </a:r>
            <a:br/>
            <a:r>
              <a:t>Sage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95560" y="2651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5568"/>
                </a:solidFill>
                <a:latin typeface="Calibri"/>
              </a:defRPr>
            </a:pPr>
            <a:r>
              <a:t>Syncs to your</a:t>
            </a:r>
            <a:br/>
            <a:r>
              <a:t>ERP directly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3383280"/>
            <a:ext cx="5120640" cy="3017520"/>
          </a:xfrm>
          <a:prstGeom prst="rect">
            <a:avLst/>
          </a:prstGeom>
          <a:solidFill>
            <a:srgbClr val="FED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34747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53E3E"/>
                </a:solidFill>
                <a:latin typeface="Calibri"/>
              </a:defRPr>
            </a:pPr>
            <a:r>
              <a:t>TODAY (Manual)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393192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C53030"/>
                </a:solidFill>
                <a:latin typeface="Calibri"/>
              </a:defRPr>
            </a:pPr>
            <a:r>
              <a:t>AP clerk opens email, downloads invoice</a:t>
            </a:r>
          </a:p>
          <a:p>
            <a:pPr>
              <a:spcAft>
                <a:spcPts val="800"/>
              </a:spcAft>
              <a:defRPr sz="1200">
                <a:solidFill>
                  <a:srgbClr val="C53030"/>
                </a:solidFill>
                <a:latin typeface="Calibri"/>
              </a:defRPr>
            </a:pPr>
            <a:r>
              <a:t>Manually types vendor, amount, date into Sage</a:t>
            </a:r>
          </a:p>
          <a:p>
            <a:pPr>
              <a:spcAft>
                <a:spcPts val="800"/>
              </a:spcAft>
              <a:defRPr sz="1200">
                <a:solidFill>
                  <a:srgbClr val="C53030"/>
                </a:solidFill>
                <a:latin typeface="Calibri"/>
              </a:defRPr>
            </a:pPr>
            <a:r>
              <a:t>Looks up job number and cost code</a:t>
            </a:r>
          </a:p>
          <a:p>
            <a:pPr>
              <a:spcAft>
                <a:spcPts val="800"/>
              </a:spcAft>
              <a:defRPr sz="1200">
                <a:solidFill>
                  <a:srgbClr val="C53030"/>
                </a:solidFill>
                <a:latin typeface="Calibri"/>
              </a:defRPr>
            </a:pPr>
            <a:r>
              <a:t>Emails PM for approval, waits days</a:t>
            </a:r>
          </a:p>
          <a:p>
            <a:pPr>
              <a:spcAft>
                <a:spcPts val="800"/>
              </a:spcAft>
              <a:defRPr sz="1200">
                <a:solidFill>
                  <a:srgbClr val="C53030"/>
                </a:solidFill>
                <a:latin typeface="Calibri"/>
              </a:defRPr>
            </a:pPr>
            <a:r>
              <a:t>PM eventually approves, AP posts to Sage</a:t>
            </a:r>
          </a:p>
          <a:p>
            <a:pPr>
              <a:spcAft>
                <a:spcPts val="800"/>
              </a:spcAft>
              <a:defRPr sz="1200">
                <a:solidFill>
                  <a:srgbClr val="C53030"/>
                </a:solidFill>
                <a:latin typeface="Calibri"/>
              </a:defRPr>
            </a:pPr>
            <a:r>
              <a:t>Misses early-pay discount (invoice sat too long)</a:t>
            </a:r>
          </a:p>
          <a:p>
            <a:pPr>
              <a:spcAft>
                <a:spcPts val="800"/>
              </a:spcAft>
              <a:defRPr sz="1200">
                <a:solidFill>
                  <a:srgbClr val="C53030"/>
                </a:solidFill>
                <a:latin typeface="Calibri"/>
              </a:defRPr>
            </a:pPr>
            <a:r>
              <a:t>Total: 20-30 min/invoice, 14+ days to pay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3383280"/>
            <a:ext cx="5120640" cy="3017520"/>
          </a:xfrm>
          <a:prstGeom prst="rect">
            <a:avLst/>
          </a:prstGeom>
          <a:solidFill>
            <a:srgbClr val="C6F6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34747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8A169"/>
                </a:solidFill>
                <a:latin typeface="Calibri"/>
              </a:defRPr>
            </a:pPr>
            <a:r>
              <a:t>WITH PAYFLOW AI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393192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76749"/>
                </a:solidFill>
                <a:latin typeface="Calibri"/>
              </a:defRPr>
            </a:pPr>
            <a:r>
              <a:t>Invoice arrives via email or upload</a:t>
            </a:r>
          </a:p>
          <a:p>
            <a:pPr>
              <a:spcAft>
                <a:spcPts val="800"/>
              </a:spcAft>
              <a:defRPr sz="1200">
                <a:solidFill>
                  <a:srgbClr val="276749"/>
                </a:solidFill>
                <a:latin typeface="Calibri"/>
              </a:defRPr>
            </a:pPr>
            <a:r>
              <a:t>AI reads and extracts all fields in 5 seconds</a:t>
            </a:r>
          </a:p>
          <a:p>
            <a:pPr>
              <a:spcAft>
                <a:spcPts val="800"/>
              </a:spcAft>
              <a:defRPr sz="1200">
                <a:solidFill>
                  <a:srgbClr val="276749"/>
                </a:solidFill>
                <a:latin typeface="Calibri"/>
              </a:defRPr>
            </a:pPr>
            <a:r>
              <a:t>AI codes to correct GL, job, phase, cost code</a:t>
            </a:r>
          </a:p>
          <a:p>
            <a:pPr>
              <a:spcAft>
                <a:spcPts val="800"/>
              </a:spcAft>
              <a:defRPr sz="1200">
                <a:solidFill>
                  <a:srgbClr val="276749"/>
                </a:solidFill>
                <a:latin typeface="Calibri"/>
              </a:defRPr>
            </a:pPr>
            <a:r>
              <a:t>AI matches against PO, checks compliance</a:t>
            </a:r>
          </a:p>
          <a:p>
            <a:pPr>
              <a:spcAft>
                <a:spcPts val="800"/>
              </a:spcAft>
              <a:defRPr sz="1200">
                <a:solidFill>
                  <a:srgbClr val="276749"/>
                </a:solidFill>
                <a:latin typeface="Calibri"/>
              </a:defRPr>
            </a:pPr>
            <a:r>
              <a:t>Auto-approves or routes to PM instantly</a:t>
            </a:r>
          </a:p>
          <a:p>
            <a:pPr>
              <a:spcAft>
                <a:spcPts val="800"/>
              </a:spcAft>
              <a:defRPr sz="1200">
                <a:solidFill>
                  <a:srgbClr val="276749"/>
                </a:solidFill>
                <a:latin typeface="Calibri"/>
              </a:defRPr>
            </a:pPr>
            <a:r>
              <a:t>Flags early-pay discount, prioritizes approval</a:t>
            </a:r>
          </a:p>
          <a:p>
            <a:pPr>
              <a:spcAft>
                <a:spcPts val="800"/>
              </a:spcAft>
              <a:defRPr sz="1200">
                <a:solidFill>
                  <a:srgbClr val="276749"/>
                </a:solidFill>
                <a:latin typeface="Calibri"/>
              </a:defRPr>
            </a:pPr>
            <a:r>
              <a:t>Total: 5 sec/invoice, same-day processing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65D"/>
                </a:solidFill>
                <a:latin typeface="Calibri"/>
              </a:defRPr>
            </a:pPr>
            <a:r>
              <a:t>The ROI: $462,000 in Direct AP Savings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4A5568"/>
                </a:solidFill>
                <a:latin typeface="Calibri"/>
              </a:defRPr>
            </a:pPr>
            <a:r>
              <a:t>Based on 3,000 invoices per month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371600"/>
          <a:ext cx="5029200" cy="2926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17920" y="1371600"/>
          <a:ext cx="52120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005840"/>
                <a:gridCol w="1005840"/>
                <a:gridCol w="137160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Current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With AI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Savings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AP Staff Labor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$360,000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$84,000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8A169"/>
                          </a:solidFill>
                          <a:latin typeface="Calibri"/>
                        </a:defRPr>
                      </a:pPr>
                      <a:r>
                        <a:t>$276,000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Error Correction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$72,000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$7,200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8A169"/>
                          </a:solidFill>
                          <a:latin typeface="Calibri"/>
                        </a:defRPr>
                      </a:pPr>
                      <a:r>
                        <a:t>$64,800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Late Payments / Discounts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$90,000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$9,000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8A169"/>
                          </a:solidFill>
                          <a:latin typeface="Calibri"/>
                        </a:defRPr>
                      </a:pPr>
                      <a:r>
                        <a:t>$81,000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Overhead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$36,000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$12,000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8A169"/>
                          </a:solidFill>
                          <a:latin typeface="Calibri"/>
                        </a:defRPr>
                      </a:pPr>
                      <a:r>
                        <a:t>$24,000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Vendor Follow-ups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$18,000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$1,800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8A169"/>
                          </a:solidFill>
                          <a:latin typeface="Calibri"/>
                        </a:defRPr>
                      </a:pPr>
                      <a:r>
                        <a:t>$16,200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76749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C6F6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76749"/>
                          </a:solidFill>
                          <a:latin typeface="Calibri"/>
                        </a:defRPr>
                      </a:pPr>
                      <a:r>
                        <a:t>$576,000</a:t>
                      </a:r>
                    </a:p>
                  </a:txBody>
                  <a:tcPr>
                    <a:solidFill>
                      <a:srgbClr val="C6F6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76749"/>
                          </a:solidFill>
                          <a:latin typeface="Calibri"/>
                        </a:defRPr>
                      </a:pPr>
                      <a:r>
                        <a:t>$114,000</a:t>
                      </a:r>
                    </a:p>
                  </a:txBody>
                  <a:tcPr>
                    <a:solidFill>
                      <a:srgbClr val="C6F6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76749"/>
                          </a:solidFill>
                          <a:latin typeface="Calibri"/>
                        </a:defRPr>
                      </a:pPr>
                      <a:r>
                        <a:t>$462,000</a:t>
                      </a:r>
                    </a:p>
                  </a:txBody>
                  <a:tcPr>
                    <a:solidFill>
                      <a:srgbClr val="C6F6D5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4572000"/>
            <a:ext cx="25603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6634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A5568"/>
                </a:solidFill>
                <a:latin typeface="Calibri"/>
              </a:defRPr>
            </a:pPr>
            <a:r>
              <a:t>SOFTWARE COST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892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B6CB0"/>
                </a:solidFill>
                <a:latin typeface="Calibri"/>
              </a:defRPr>
            </a:pPr>
            <a:r>
              <a:t>$18,000/yr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3492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5568"/>
                </a:solidFill>
                <a:latin typeface="Calibri"/>
              </a:defRPr>
            </a:pPr>
            <a:r>
              <a:t>PayFlow AI Professional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4572000"/>
            <a:ext cx="25603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46634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A5568"/>
                </a:solidFill>
                <a:latin typeface="Calibri"/>
              </a:defRPr>
            </a:pPr>
            <a:r>
              <a:t>AP SAVINGS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4892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38A169"/>
                </a:solidFill>
                <a:latin typeface="Calibri"/>
              </a:defRPr>
            </a:pPr>
            <a:r>
              <a:t>$462,000/yr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53492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5568"/>
                </a:solidFill>
                <a:latin typeface="Calibri"/>
              </a:defRPr>
            </a:pPr>
            <a:r>
              <a:t>Direct cost reduction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4572000"/>
            <a:ext cx="25603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46634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A5568"/>
                </a:solidFill>
                <a:latin typeface="Calibri"/>
              </a:defRPr>
            </a:pPr>
            <a:r>
              <a:t>ROI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4892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38A169"/>
                </a:solidFill>
                <a:latin typeface="Calibri"/>
              </a:defRPr>
            </a:pPr>
            <a:r>
              <a:t>2,467%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53492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5568"/>
                </a:solidFill>
                <a:latin typeface="Calibri"/>
              </a:defRPr>
            </a:pPr>
            <a:r>
              <a:t>Return on investment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4572000"/>
            <a:ext cx="25603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72600" y="46634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A5568"/>
                </a:solidFill>
                <a:latin typeface="Calibri"/>
              </a:defRPr>
            </a:pPr>
            <a:r>
              <a:t>PAYBACK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4892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38A169"/>
                </a:solidFill>
                <a:latin typeface="Calibri"/>
              </a:defRPr>
            </a:pPr>
            <a:r>
              <a:t>2 Weeks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53492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5568"/>
                </a:solidFill>
                <a:latin typeface="Calibri"/>
              </a:defRPr>
            </a:pPr>
            <a:r>
              <a:t>Software pays for itself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65D"/>
                </a:solidFill>
                <a:latin typeface="Calibri"/>
              </a:defRPr>
            </a:pPr>
            <a:r>
              <a:t>Beyond Savings: PayFlow AI Makes You Money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4A5568"/>
                </a:solidFill>
                <a:latin typeface="Calibri"/>
              </a:defRPr>
            </a:pPr>
            <a:r>
              <a:t>Early-pay discount capture alone could generate $50,000 - $100,000+ per year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371600"/>
          <a:ext cx="64008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589520" y="1371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65D"/>
                </a:solidFill>
                <a:latin typeface="Calibri"/>
              </a:defRPr>
            </a:pPr>
            <a:r>
              <a:t>How It Works: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828800"/>
            <a:ext cx="3931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Many vendors offer 2/10 Net 30 terms (2% discount if paid within 10 days)</a:t>
            </a:r>
          </a:p>
          <a:p>
            <a:pPr>
              <a:spcAft>
                <a:spcPts val="1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Manual AP takes 14+ days - you miss the window every time</a:t>
            </a:r>
          </a:p>
          <a:p>
            <a:pPr>
              <a:spcAft>
                <a:spcPts val="1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PayFlow AI processes invoices same-day and flags discount opportunities</a:t>
            </a:r>
          </a:p>
          <a:p>
            <a:pPr>
              <a:spcAft>
                <a:spcPts val="1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AI prioritizes discount invoices in the approval queue</a:t>
            </a:r>
          </a:p>
          <a:p>
            <a:pPr>
              <a:spcAft>
                <a:spcPts val="1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Monthly report shows exactly how much you captured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846320"/>
            <a:ext cx="33832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93776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A5568"/>
                </a:solidFill>
                <a:latin typeface="Calibri"/>
              </a:defRPr>
            </a:pPr>
            <a:r>
              <a:t>DISCOUNTS CAPTURED (MANUAL)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1663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E53E3E"/>
                </a:solidFill>
                <a:latin typeface="Calibri"/>
              </a:defRPr>
            </a:pPr>
            <a:r>
              <a:t>$12,800/yr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62356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5568"/>
                </a:solidFill>
                <a:latin typeface="Calibri"/>
              </a:defRPr>
            </a:pPr>
            <a:r>
              <a:t>Only ~12% of available discounts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4846320"/>
            <a:ext cx="33832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493776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A5568"/>
                </a:solidFill>
                <a:latin typeface="Calibri"/>
              </a:defRPr>
            </a:pPr>
            <a:r>
              <a:t>DISCOUNTS CAPTURED (PAYFLOW AI)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51663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38A169"/>
                </a:solidFill>
                <a:latin typeface="Calibri"/>
              </a:defRPr>
            </a:pPr>
            <a:r>
              <a:t>$96,300/yr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562356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5568"/>
                </a:solidFill>
                <a:latin typeface="Calibri"/>
              </a:defRPr>
            </a:pPr>
            <a:r>
              <a:t>~85% of available discounts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4846320"/>
            <a:ext cx="33832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80" y="493776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A5568"/>
                </a:solidFill>
                <a:latin typeface="Calibri"/>
              </a:defRPr>
            </a:pPr>
            <a:r>
              <a:t>ADDITIONAL REVENUE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80" y="51663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319095"/>
                </a:solidFill>
                <a:latin typeface="Calibri"/>
              </a:defRPr>
            </a:pPr>
            <a:r>
              <a:t>$83,500/yr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80" y="562356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5568"/>
                </a:solidFill>
                <a:latin typeface="Calibri"/>
              </a:defRPr>
            </a:pPr>
            <a:r>
              <a:t>Money you're currently leaving on the table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65D"/>
                </a:solidFill>
                <a:latin typeface="Calibri"/>
              </a:defRPr>
            </a:pPr>
            <a:r>
              <a:t>Financial Intelligence a CFO Actually Wants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4A5568"/>
                </a:solidFill>
                <a:latin typeface="Calibri"/>
              </a:defRPr>
            </a:pPr>
            <a:r>
              <a:t>Real-time visibility into cash position, job profitability, and vendor performance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3035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B4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417320"/>
            <a:ext cx="5212080" cy="73152"/>
          </a:xfrm>
          <a:prstGeom prst="rect">
            <a:avLst/>
          </a:prstGeom>
          <a:solidFill>
            <a:srgbClr val="6B4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365D"/>
                </a:solidFill>
                <a:latin typeface="Calibri"/>
              </a:defRPr>
            </a:pPr>
            <a:r>
              <a:t>Cash Flow Forecasting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4A5568"/>
                </a:solidFill>
                <a:latin typeface="Calibri"/>
              </a:defRPr>
            </a:pPr>
            <a:r>
              <a:t>Predict AP obligations 30-60 days out</a:t>
            </a:r>
          </a:p>
          <a:p>
            <a:pPr>
              <a:spcAft>
                <a:spcPts val="500"/>
              </a:spcAft>
              <a:defRPr sz="1100">
                <a:solidFill>
                  <a:srgbClr val="4A5568"/>
                </a:solidFill>
                <a:latin typeface="Calibri"/>
              </a:defRPr>
            </a:pPr>
            <a:r>
              <a:t>'You need $890K to cover payables this month'</a:t>
            </a:r>
          </a:p>
          <a:p>
            <a:pPr>
              <a:spcAft>
                <a:spcPts val="500"/>
              </a:spcAft>
              <a:defRPr sz="1100">
                <a:solidFill>
                  <a:srgbClr val="4A5568"/>
                </a:solidFill>
                <a:latin typeface="Calibri"/>
              </a:defRPr>
            </a:pPr>
            <a:r>
              <a:t>Model payment timing scenarios</a:t>
            </a:r>
          </a:p>
          <a:p>
            <a:pPr>
              <a:spcAft>
                <a:spcPts val="500"/>
              </a:spcAft>
              <a:defRPr sz="1100">
                <a:solidFill>
                  <a:srgbClr val="4A5568"/>
                </a:solidFill>
                <a:latin typeface="Calibri"/>
              </a:defRPr>
            </a:pPr>
            <a:r>
              <a:t>Plan draws and credit line usage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600200"/>
            <a:ext cx="1554480" cy="173736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69164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B46C1"/>
                </a:solidFill>
                <a:latin typeface="Calibri"/>
              </a:defRPr>
            </a:pPr>
            <a:r>
              <a:t>$890K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24028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5568"/>
                </a:solidFill>
                <a:latin typeface="Calibri"/>
              </a:defRPr>
            </a:pPr>
            <a:r>
              <a:t>payables due</a:t>
            </a:r>
            <a:br/>
            <a:r>
              <a:t>next 30 days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371600"/>
            <a:ext cx="53035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6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46520" y="1417320"/>
            <a:ext cx="5212080" cy="73152"/>
          </a:xfrm>
          <a:prstGeom prst="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554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365D"/>
                </a:solidFill>
                <a:latin typeface="Calibri"/>
              </a:defRPr>
            </a:pPr>
            <a:r>
              <a:t>Job Profitability Alerts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92024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4A5568"/>
                </a:solidFill>
                <a:latin typeface="Calibri"/>
              </a:defRPr>
            </a:pPr>
            <a:r>
              <a:t>Real-time cost vs budget by job</a:t>
            </a:r>
          </a:p>
          <a:p>
            <a:pPr>
              <a:spcAft>
                <a:spcPts val="500"/>
              </a:spcAft>
              <a:defRPr sz="1100">
                <a:solidFill>
                  <a:srgbClr val="4A5568"/>
                </a:solidFill>
                <a:latin typeface="Calibri"/>
              </a:defRPr>
            </a:pPr>
            <a:r>
              <a:t>'Job #2847 is 73% done but used 89% of budget'</a:t>
            </a:r>
          </a:p>
          <a:p>
            <a:pPr>
              <a:spcAft>
                <a:spcPts val="500"/>
              </a:spcAft>
              <a:defRPr sz="1100">
                <a:solidFill>
                  <a:srgbClr val="4A5568"/>
                </a:solidFill>
                <a:latin typeface="Calibri"/>
              </a:defRPr>
            </a:pPr>
            <a:r>
              <a:t>Catch bleeding projects before it's too late</a:t>
            </a:r>
          </a:p>
          <a:p>
            <a:pPr>
              <a:spcAft>
                <a:spcPts val="500"/>
              </a:spcAft>
              <a:defRPr sz="1100">
                <a:solidFill>
                  <a:srgbClr val="4A5568"/>
                </a:solidFill>
                <a:latin typeface="Calibri"/>
              </a:defRPr>
            </a:pPr>
            <a:r>
              <a:t>Alert PMs and CFO automatically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966960" y="1600200"/>
            <a:ext cx="1554480" cy="173736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66960" y="169164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DD6B20"/>
                </a:solidFill>
                <a:latin typeface="Calibri"/>
              </a:defRPr>
            </a:pPr>
            <a:r>
              <a:t>89%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60" y="224028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5568"/>
                </a:solidFill>
                <a:latin typeface="Calibri"/>
              </a:defRPr>
            </a:pPr>
            <a:r>
              <a:t>of plumbing budget</a:t>
            </a:r>
            <a:br/>
            <a:r>
              <a:t>consumed at 73%</a:t>
            </a:r>
            <a:br/>
            <a:r>
              <a:t>complete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840480"/>
            <a:ext cx="53035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190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3886200"/>
            <a:ext cx="5212080" cy="73152"/>
          </a:xfrm>
          <a:prstGeom prst="rect">
            <a:avLst/>
          </a:prstGeom>
          <a:solidFill>
            <a:srgbClr val="319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023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365D"/>
                </a:solidFill>
                <a:latin typeface="Calibri"/>
              </a:defRPr>
            </a:pPr>
            <a:r>
              <a:t>Over/Under Billing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38912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4A5568"/>
                </a:solidFill>
                <a:latin typeface="Calibri"/>
              </a:defRPr>
            </a:pPr>
            <a:r>
              <a:t>Track billings vs work completed per job</a:t>
            </a:r>
          </a:p>
          <a:p>
            <a:pPr>
              <a:spcAft>
                <a:spcPts val="500"/>
              </a:spcAft>
              <a:defRPr sz="1100">
                <a:solidFill>
                  <a:srgbClr val="4A5568"/>
                </a:solidFill>
                <a:latin typeface="Calibri"/>
              </a:defRPr>
            </a:pPr>
            <a:r>
              <a:t>Required for WIP reporting (banks &amp; bonding)</a:t>
            </a:r>
          </a:p>
          <a:p>
            <a:pPr>
              <a:spcAft>
                <a:spcPts val="500"/>
              </a:spcAft>
              <a:defRPr sz="1100">
                <a:solidFill>
                  <a:srgbClr val="4A5568"/>
                </a:solidFill>
                <a:latin typeface="Calibri"/>
              </a:defRPr>
            </a:pPr>
            <a:r>
              <a:t>Currently takes days in spreadsheets</a:t>
            </a:r>
          </a:p>
          <a:p>
            <a:pPr>
              <a:spcAft>
                <a:spcPts val="500"/>
              </a:spcAft>
              <a:defRPr sz="1100">
                <a:solidFill>
                  <a:srgbClr val="4A5568"/>
                </a:solidFill>
                <a:latin typeface="Calibri"/>
              </a:defRPr>
            </a:pPr>
            <a:r>
              <a:t>PayFlow does it in real-time automatically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4069080"/>
            <a:ext cx="1554480" cy="173736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0" y="416052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19095"/>
                </a:solidFill>
                <a:latin typeface="Calibri"/>
              </a:defRPr>
            </a:pPr>
            <a:r>
              <a:t>$245K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470916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5568"/>
                </a:solidFill>
                <a:latin typeface="Calibri"/>
              </a:defRPr>
            </a:pPr>
            <a:r>
              <a:t>underbilled across</a:t>
            </a:r>
            <a:br/>
            <a:r>
              <a:t>4 active jobs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3840480"/>
            <a:ext cx="53035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46520" y="3886200"/>
            <a:ext cx="5212080" cy="7315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4023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365D"/>
                </a:solidFill>
                <a:latin typeface="Calibri"/>
              </a:defRPr>
            </a:pPr>
            <a:r>
              <a:t>Vendor Scorecard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38912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4A5568"/>
                </a:solidFill>
                <a:latin typeface="Calibri"/>
              </a:defRPr>
            </a:pPr>
            <a:r>
              <a:t>Rate vendors on invoice accuracy</a:t>
            </a:r>
          </a:p>
          <a:p>
            <a:pPr>
              <a:spcAft>
                <a:spcPts val="500"/>
              </a:spcAft>
              <a:defRPr sz="1100">
                <a:solidFill>
                  <a:srgbClr val="4A5568"/>
                </a:solidFill>
                <a:latin typeface="Calibri"/>
              </a:defRPr>
            </a:pPr>
            <a:r>
              <a:t>Track pricing consistency over time</a:t>
            </a:r>
          </a:p>
          <a:p>
            <a:pPr>
              <a:spcAft>
                <a:spcPts val="500"/>
              </a:spcAft>
              <a:defRPr sz="1100">
                <a:solidFill>
                  <a:srgbClr val="4A5568"/>
                </a:solidFill>
                <a:latin typeface="Calibri"/>
              </a:defRPr>
            </a:pPr>
            <a:r>
              <a:t>Monitor COI and compliance status</a:t>
            </a:r>
          </a:p>
          <a:p>
            <a:pPr>
              <a:spcAft>
                <a:spcPts val="500"/>
              </a:spcAft>
              <a:defRPr sz="1100">
                <a:solidFill>
                  <a:srgbClr val="4A5568"/>
                </a:solidFill>
                <a:latin typeface="Calibri"/>
              </a:defRPr>
            </a:pPr>
            <a:r>
              <a:t>Objective data for negotiations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966960" y="4069080"/>
            <a:ext cx="1554480" cy="173736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66960" y="416052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A365D"/>
                </a:solidFill>
                <a:latin typeface="Calibri"/>
              </a:defRPr>
            </a:pPr>
            <a:r>
              <a:t>12%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66960" y="470916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5568"/>
                </a:solidFill>
                <a:latin typeface="Calibri"/>
              </a:defRPr>
            </a:pPr>
            <a:r>
              <a:t>error rate on</a:t>
            </a:r>
            <a:br/>
            <a:r>
              <a:t>vendor invoices =</a:t>
            </a:r>
            <a:br/>
            <a:r>
              <a:t>leverage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65D"/>
                </a:solidFill>
                <a:latin typeface="Calibri"/>
              </a:defRPr>
            </a:pPr>
            <a:r>
              <a:t>Visibility You Don't Have Today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371600"/>
          <a:ext cx="502920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10972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365D"/>
                </a:solidFill>
                <a:latin typeface="Calibri"/>
              </a:defRPr>
            </a:pPr>
            <a:r>
              <a:t>AP Aging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0972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65D"/>
                </a:solidFill>
                <a:latin typeface="Calibri"/>
              </a:defRPr>
            </a:pPr>
            <a:r>
              <a:t>What This Tells You: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Payment health at a glance - are you falling behind?</a:t>
            </a:r>
          </a:p>
          <a:p>
            <a:pPr>
              <a:spcAft>
                <a:spcPts val="8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Vendor relationship risk - 90+ day payables = credit holds</a:t>
            </a:r>
          </a:p>
          <a:p>
            <a:pPr>
              <a:spcAft>
                <a:spcPts val="8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Credit holds stop materials from shipping to your job sites</a:t>
            </a:r>
          </a:p>
          <a:p>
            <a:pPr>
              <a:spcAft>
                <a:spcPts val="8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Trend analysis: 'Your 90+ day payables grew 40% in 3 months'</a:t>
            </a:r>
          </a:p>
          <a:p>
            <a:pPr>
              <a:spcAft>
                <a:spcPts val="8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CFO sees this in real-time, not at month-end close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06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65D"/>
                </a:solidFill>
                <a:latin typeface="Calibri"/>
              </a:defRPr>
            </a:pPr>
            <a:r>
              <a:t>More Built-In Financial Intelligence: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663440"/>
            <a:ext cx="26974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4709160"/>
            <a:ext cx="2606040" cy="73152"/>
          </a:xfrm>
          <a:prstGeom prst="rect">
            <a:avLst/>
          </a:prstGeom>
          <a:solidFill>
            <a:srgbClr val="3190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84632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365D"/>
                </a:solidFill>
                <a:latin typeface="Calibri"/>
              </a:defRPr>
            </a:pPr>
            <a:r>
              <a:t>Tax Optimization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212080"/>
            <a:ext cx="2331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Flag tax-exempt construction purchases</a:t>
            </a:r>
          </a:p>
          <a:p>
            <a:pPr algn="l"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Track use tax on out-of-state buys</a:t>
            </a:r>
          </a:p>
          <a:p>
            <a:pPr algn="l"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Auto-identify 1099 vendors</a:t>
            </a:r>
          </a:p>
          <a:p>
            <a:pPr algn="l"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Potential savings: $20-50K/year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4663440"/>
            <a:ext cx="26974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74720" y="4709160"/>
            <a:ext cx="2606040" cy="7315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80" y="484632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365D"/>
                </a:solidFill>
                <a:latin typeface="Calibri"/>
              </a:defRPr>
            </a:pPr>
            <a:r>
              <a:t>Audit-Ready Package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5212080"/>
            <a:ext cx="2331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One-click auditor export</a:t>
            </a:r>
          </a:p>
          <a:p>
            <a:pPr algn="l"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Complete invoice register with images</a:t>
            </a:r>
          </a:p>
          <a:p>
            <a:pPr algn="l"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Full approval chain documentation</a:t>
            </a:r>
          </a:p>
          <a:p>
            <a:pPr algn="l"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Weeks of audit prep become instant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4663440"/>
            <a:ext cx="26974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4709160"/>
            <a:ext cx="2606040" cy="73152"/>
          </a:xfrm>
          <a:prstGeom prst="rect">
            <a:avLst/>
          </a:prstGeom>
          <a:solidFill>
            <a:srgbClr val="6B4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84632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365D"/>
                </a:solidFill>
                <a:latin typeface="Calibri"/>
              </a:defRPr>
            </a:pPr>
            <a:r>
              <a:t>Bonding Capacity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5212080"/>
            <a:ext cx="2331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Real-time working capital tracking</a:t>
            </a:r>
          </a:p>
          <a:p>
            <a:pPr algn="l"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Over/under billing for WIP reports</a:t>
            </a:r>
          </a:p>
          <a:p>
            <a:pPr algn="l"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AP aging for bonding applications</a:t>
            </a:r>
          </a:p>
          <a:p>
            <a:pPr algn="l"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Know your capacity before you bid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89720" y="4663440"/>
            <a:ext cx="26974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35440" y="4709160"/>
            <a:ext cx="2606040" cy="73152"/>
          </a:xfrm>
          <a:prstGeom prst="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72600" y="484632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365D"/>
                </a:solidFill>
                <a:latin typeface="Calibri"/>
              </a:defRPr>
            </a:pPr>
            <a:r>
              <a:t>Retention Tracker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5212080"/>
            <a:ext cx="2331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Retainage held per vendor per job</a:t>
            </a:r>
          </a:p>
          <a:p>
            <a:pPr algn="l"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Release conditions and deadlines</a:t>
            </a:r>
          </a:p>
          <a:p>
            <a:pPr algn="l"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Prevents premature releases</a:t>
            </a:r>
          </a:p>
          <a:p>
            <a:pPr algn="l"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Cash flow impact of held retainage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65D"/>
                </a:solidFill>
                <a:latin typeface="Calibri"/>
              </a:defRPr>
            </a:pPr>
            <a:r>
              <a:t>3-Year Total Value: $1.7 Million+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4A5568"/>
                </a:solidFill>
                <a:latin typeface="Calibri"/>
              </a:defRPr>
            </a:pPr>
            <a:r>
              <a:t>AP savings + discount capture + tax optimization + avoided losses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371600"/>
          <a:ext cx="64008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589520" y="1371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365D"/>
                </a:solidFill>
                <a:latin typeface="Calibri"/>
              </a:defRPr>
            </a:pPr>
            <a:r>
              <a:t>3-Year Value Summary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589520" y="1828800"/>
          <a:ext cx="413308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713232"/>
                <a:gridCol w="713232"/>
                <a:gridCol w="713232"/>
                <a:gridCol w="713232"/>
              </a:tblGrid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 Source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 1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 2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 3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AP Cost Savings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$462K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$487K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$513K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$1.46M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Discount Capture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$84K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$92K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$101K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$277K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Tax Optimization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$25K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$35K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$40K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$100K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Avoided Job Losses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$50K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$75K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$100K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$225K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A365D"/>
                          </a:solidFill>
                          <a:latin typeface="Calibri"/>
                        </a:defRPr>
                      </a:pPr>
                      <a:r>
                        <a:t>TOTAL VALUE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365D"/>
                          </a:solidFill>
                          <a:latin typeface="Calibri"/>
                        </a:defRPr>
                      </a:pPr>
                      <a:r>
                        <a:t>$621K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365D"/>
                          </a:solidFill>
                          <a:latin typeface="Calibri"/>
                        </a:defRPr>
                      </a:pPr>
                      <a:r>
                        <a:t>$689K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365D"/>
                          </a:solidFill>
                          <a:latin typeface="Calibri"/>
                        </a:defRPr>
                      </a:pPr>
                      <a:r>
                        <a:t>$754K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365D"/>
                          </a:solidFill>
                          <a:latin typeface="Calibri"/>
                        </a:defRPr>
                      </a:pPr>
                      <a:r>
                        <a:t>$2.06M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Software Cost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$18K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$18K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$18K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$54K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76749"/>
                          </a:solidFill>
                          <a:latin typeface="Calibri"/>
                        </a:defRPr>
                      </a:pPr>
                      <a:r>
                        <a:t>NET VALUE</a:t>
                      </a:r>
                    </a:p>
                  </a:txBody>
                  <a:tcPr>
                    <a:solidFill>
                      <a:srgbClr val="C6F6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76749"/>
                          </a:solidFill>
                          <a:latin typeface="Calibri"/>
                        </a:defRPr>
                      </a:pPr>
                      <a:r>
                        <a:t>$603K</a:t>
                      </a:r>
                    </a:p>
                  </a:txBody>
                  <a:tcPr>
                    <a:solidFill>
                      <a:srgbClr val="C6F6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76749"/>
                          </a:solidFill>
                          <a:latin typeface="Calibri"/>
                        </a:defRPr>
                      </a:pPr>
                      <a:r>
                        <a:t>$671K</a:t>
                      </a:r>
                    </a:p>
                  </a:txBody>
                  <a:tcPr>
                    <a:solidFill>
                      <a:srgbClr val="C6F6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76749"/>
                          </a:solidFill>
                          <a:latin typeface="Calibri"/>
                        </a:defRPr>
                      </a:pPr>
                      <a:r>
                        <a:t>$736K</a:t>
                      </a:r>
                    </a:p>
                  </a:txBody>
                  <a:tcPr>
                    <a:solidFill>
                      <a:srgbClr val="C6F6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76749"/>
                          </a:solidFill>
                          <a:latin typeface="Calibri"/>
                        </a:defRPr>
                      </a:pPr>
                      <a:r>
                        <a:t>$2.01M</a:t>
                      </a:r>
                    </a:p>
                  </a:txBody>
                  <a:tcPr>
                    <a:solidFill>
                      <a:srgbClr val="C6F6D5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589520" y="5029200"/>
            <a:ext cx="4114800" cy="1188720"/>
          </a:xfrm>
          <a:prstGeom prst="roundRect">
            <a:avLst/>
          </a:prstGeom>
          <a:solidFill>
            <a:srgbClr val="C6F6D5"/>
          </a:solidFill>
          <a:ln w="12700"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51206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76749"/>
                </a:solidFill>
                <a:latin typeface="Calibri"/>
              </a:defRPr>
            </a:pPr>
            <a:r>
              <a:t>3-Year Net 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539496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76749"/>
                </a:solidFill>
                <a:latin typeface="Calibri"/>
              </a:defRPr>
            </a:pPr>
            <a:r>
              <a:t>$2.01 Million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58521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76749"/>
                </a:solidFill>
                <a:latin typeface="Calibri"/>
              </a:defRPr>
            </a:pPr>
            <a:r>
              <a:t>vs $54K software investment (3,728% ROI)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65D"/>
                </a:solidFill>
                <a:latin typeface="Calibri"/>
              </a:defRPr>
            </a:pPr>
            <a:r>
              <a:t>Built for Construction, Not Adapted From Generic 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4A5568"/>
                </a:solidFill>
                <a:latin typeface="Calibri"/>
              </a:defRPr>
            </a:pPr>
            <a:r>
              <a:t>Generic tools handle 3 of 13 construction requirements. We handle all 13.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73152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011680"/>
                <a:gridCol w="2103120"/>
              </a:tblGrid>
              <a:tr h="35922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Capability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Generic AP</a:t>
                      </a:r>
                    </a:p>
                    <a:p>
                      <a:r>
                        <a:t>(Stampli, Vic.ai)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PayFlow AI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Standard invoice extraction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8A169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GL code prediction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8A169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Approval workflows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8A169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AIA G702/G703 billing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53E3E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8A169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Lien waiver tracking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53E3E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8A169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Retention management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53E3E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8A169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5D job costing (GL+job+phase+code+type)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53E3E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8A169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Change order tracking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53E3E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8A169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COI expiration alerts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53E3E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8A169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Prevailing wage verification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53E3E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8A169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Multi-entity routing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53E3E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8A169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Sage integration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Limited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8A169"/>
                          </a:solidFill>
                          <a:latin typeface="Calibri"/>
                        </a:defRPr>
                      </a:pPr>
                      <a:r>
                        <a:t>Native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35923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Procore integration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53E3E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8A169"/>
                          </a:solidFill>
                          <a:latin typeface="Calibri"/>
                        </a:defRPr>
                      </a:pPr>
                      <a:r>
                        <a:t>Native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503920" y="1371600"/>
            <a:ext cx="3200400" cy="5029200"/>
          </a:xfrm>
          <a:prstGeom prst="roundRect">
            <a:avLst/>
          </a:prstGeom>
          <a:solidFill>
            <a:srgbClr val="EBF4FF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0" y="15544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365D"/>
                </a:solidFill>
                <a:latin typeface="Calibri"/>
              </a:defRPr>
            </a:pPr>
            <a:r>
              <a:t>The Gap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01168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400">
                <a:solidFill>
                  <a:srgbClr val="1A365D"/>
                </a:solidFill>
                <a:latin typeface="Calibri"/>
              </a:defRPr>
            </a:pPr>
            <a:r>
              <a:t>Generic AP tools handle 3 of 13 construction requirements.</a:t>
            </a:r>
          </a:p>
          <a:p>
            <a:pPr>
              <a:spcAft>
                <a:spcPts val="1600"/>
              </a:spcAft>
              <a:defRPr sz="1400">
                <a:solidFill>
                  <a:srgbClr val="1A365D"/>
                </a:solidFill>
                <a:latin typeface="Calibri"/>
              </a:defRPr>
            </a:pPr>
            <a:r>
              <a:t>PayFlow AI handles all 13.</a:t>
            </a:r>
          </a:p>
          <a:p>
            <a:pPr>
              <a:spcAft>
                <a:spcPts val="1600"/>
              </a:spcAft>
              <a:defRPr sz="1400">
                <a:solidFill>
                  <a:srgbClr val="1A365D"/>
                </a:solidFill>
                <a:latin typeface="Calibri"/>
              </a:defRPr>
            </a:pPr>
            <a:r>
              <a:t>Your AP team currently fills this gap manually.</a:t>
            </a:r>
          </a:p>
          <a:p>
            <a:pPr>
              <a:spcAft>
                <a:spcPts val="1600"/>
              </a:spcAft>
              <a:defRPr sz="1400">
                <a:solidFill>
                  <a:srgbClr val="1A365D"/>
                </a:solidFill>
                <a:latin typeface="Calibri"/>
              </a:defRPr>
            </a:pPr>
            <a:r>
              <a:t>That's where the $576K goes.</a:t>
            </a:r>
          </a:p>
          <a:p>
            <a:pPr>
              <a:spcAft>
                <a:spcPts val="1600"/>
              </a:spcAft>
              <a:defRPr sz="1400">
                <a:solidFill>
                  <a:srgbClr val="1A365D"/>
                </a:solidFill>
                <a:latin typeface="Calibri"/>
              </a:defRPr>
            </a:pPr>
            <a:r>
              <a:t>Plus: cash flow forecasting, discount capture, and job profitability alerts that no AP tool offers.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65D"/>
                </a:solidFill>
                <a:latin typeface="Calibri"/>
              </a:defRPr>
            </a:pPr>
            <a:r>
              <a:t>Plugs Into Sage &amp; Procore On Day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4A5568"/>
                </a:solidFill>
                <a:latin typeface="Calibri"/>
              </a:defRPr>
            </a:pPr>
            <a:r>
              <a:t>No rip-and-replace. Works with what you already use.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265176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2560320" cy="59436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3560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Sage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1907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D0E0F0"/>
                </a:solidFill>
                <a:latin typeface="Calibri"/>
              </a:defRPr>
            </a:pPr>
            <a:r>
              <a:t>Your Accounting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9456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Two-way sync: chart of accounts</a:t>
            </a:r>
          </a:p>
          <a:p>
            <a:pPr>
              <a:spcAft>
                <a:spcPts val="10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Import vendors, jobs, cost codes</a:t>
            </a:r>
          </a:p>
          <a:p>
            <a:pPr>
              <a:spcAft>
                <a:spcPts val="10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Push approved invoices directly</a:t>
            </a:r>
          </a:p>
          <a:p>
            <a:pPr>
              <a:spcAft>
                <a:spcPts val="10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Sync payment 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371600"/>
            <a:ext cx="265176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9000" y="1417320"/>
            <a:ext cx="2560320" cy="59436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43560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Procore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171907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D0E0F0"/>
                </a:solidFill>
                <a:latin typeface="Calibri"/>
              </a:defRPr>
            </a:pPr>
            <a:r>
              <a:t>Your Project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19456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Pull POs, budgets, commitments</a:t>
            </a:r>
          </a:p>
          <a:p>
            <a:pPr>
              <a:spcAft>
                <a:spcPts val="10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Import change orders</a:t>
            </a:r>
          </a:p>
          <a:p>
            <a:pPr>
              <a:spcAft>
                <a:spcPts val="10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Three-way match against POs</a:t>
            </a:r>
          </a:p>
          <a:p>
            <a:pPr>
              <a:spcAft>
                <a:spcPts val="10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Real-time contract tracking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371600"/>
            <a:ext cx="265176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5080" y="1417320"/>
            <a:ext cx="2560320" cy="59436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43560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Email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71907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D0E0F0"/>
                </a:solidFill>
                <a:latin typeface="Calibri"/>
              </a:defRPr>
            </a:pPr>
            <a:r>
              <a:t>Invoice Ingestion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19456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Dedicated inbox for your company</a:t>
            </a:r>
          </a:p>
          <a:p>
            <a:pPr>
              <a:spcAft>
                <a:spcPts val="10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AI identifies invoices vs spam</a:t>
            </a:r>
          </a:p>
          <a:p>
            <a:pPr>
              <a:spcAft>
                <a:spcPts val="10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Auto-processes on arrival</a:t>
            </a:r>
          </a:p>
          <a:p>
            <a:pPr>
              <a:spcAft>
                <a:spcPts val="10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Vendors email invoices directly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1371600"/>
            <a:ext cx="265176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6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81160" y="1417320"/>
            <a:ext cx="2560320" cy="594360"/>
          </a:xfrm>
          <a:prstGeom prst="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0" y="143560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Banking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171907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D0E0F0"/>
                </a:solidFill>
                <a:latin typeface="Calibri"/>
              </a:defRPr>
            </a:pPr>
            <a:r>
              <a:t>Payments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219456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Schedule approved payments</a:t>
            </a:r>
          </a:p>
          <a:p>
            <a:pPr>
              <a:spcAft>
                <a:spcPts val="10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ACH, check, or card</a:t>
            </a:r>
          </a:p>
          <a:p>
            <a:pPr>
              <a:spcAft>
                <a:spcPts val="10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Auto-reconciliation</a:t>
            </a:r>
          </a:p>
          <a:p>
            <a:pPr>
              <a:spcAft>
                <a:spcPts val="10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Cash flow visibility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394960"/>
            <a:ext cx="10698480" cy="914400"/>
          </a:xfrm>
          <a:prstGeom prst="roundRect">
            <a:avLst/>
          </a:prstGeom>
          <a:solidFill>
            <a:srgbClr val="EBF4FF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48640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365D"/>
                </a:solidFill>
                <a:latin typeface="Calibri"/>
              </a:defRPr>
            </a:pPr>
            <a:r>
              <a:t>Invoice In  &gt;  AI Extracts  &gt;  Matches Procore PO  &gt;  Routes for Approval  &gt;  Posts to Sage  &gt;  Payment Scheduled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8064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365D"/>
                </a:solidFill>
                <a:latin typeface="Calibri"/>
              </a:defRPr>
            </a:pPr>
            <a:r>
              <a:t>Your team handles exceptions. The AI handles the other 85%.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65D"/>
                </a:solidFill>
                <a:latin typeface="Calibri"/>
              </a:defRPr>
            </a:pPr>
            <a:r>
              <a:t>Accuracy &amp; Security You Can Trust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188720"/>
          <a:ext cx="502920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21792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65D"/>
                </a:solidFill>
                <a:latin typeface="Calibri"/>
              </a:defRPr>
            </a:pPr>
            <a:r>
              <a:t>Built-In Safety 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Confidence scoring on every field</a:t>
            </a:r>
          </a:p>
          <a:p>
            <a:pPr>
              <a:spcAft>
                <a:spcPts val="6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Low-confidence invoices route to humans automatically</a:t>
            </a:r>
          </a:p>
          <a:p>
            <a:pPr>
              <a:spcAft>
                <a:spcPts val="6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Every AI decision in full audit trail</a:t>
            </a:r>
          </a:p>
          <a:p>
            <a:pPr>
              <a:spcAft>
                <a:spcPts val="6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Math validation on all line items and totals</a:t>
            </a:r>
          </a:p>
          <a:p>
            <a:pPr>
              <a:spcAft>
                <a:spcPts val="6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Duplicate detection across all vendors</a:t>
            </a:r>
          </a:p>
          <a:p>
            <a:pPr>
              <a:spcAft>
                <a:spcPts val="6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Human override on any field, always</a:t>
            </a:r>
          </a:p>
          <a:p>
            <a:pPr>
              <a:spcAft>
                <a:spcPts val="6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Shadow mode proves accuracy before going live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14800"/>
            <a:ext cx="1737360" cy="210312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2062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365D"/>
                </a:solidFill>
                <a:latin typeface="Calibri"/>
              </a:defRPr>
            </a:pPr>
            <a:r>
              <a:t>Encryption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52628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Aft>
                <a:spcPts val="200"/>
              </a:spcAft>
              <a:defRPr sz="1100">
                <a:solidFill>
                  <a:srgbClr val="4A5568"/>
                </a:solidFill>
                <a:latin typeface="Calibri"/>
              </a:defRPr>
            </a:pPr>
            <a:r>
              <a:t>AES-256 at rest</a:t>
            </a:r>
          </a:p>
          <a:p>
            <a:pPr algn="ctr">
              <a:spcAft>
                <a:spcPts val="200"/>
              </a:spcAft>
              <a:defRPr sz="1100">
                <a:solidFill>
                  <a:srgbClr val="4A5568"/>
                </a:solidFill>
                <a:latin typeface="Calibri"/>
              </a:defRPr>
            </a:pPr>
            <a:r>
              <a:t>TLS 1.2+ in transit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06039" y="4114800"/>
            <a:ext cx="1737360" cy="210312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97479" y="42062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365D"/>
                </a:solidFill>
                <a:latin typeface="Calibri"/>
              </a:defRPr>
            </a:pPr>
            <a:r>
              <a:t>AI Privacy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79" y="452628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Aft>
                <a:spcPts val="200"/>
              </a:spcAft>
              <a:defRPr sz="1100">
                <a:solidFill>
                  <a:srgbClr val="4A5568"/>
                </a:solidFill>
                <a:latin typeface="Calibri"/>
              </a:defRPr>
            </a:pPr>
            <a:r>
              <a:t>Never trains on your data</a:t>
            </a:r>
          </a:p>
          <a:p>
            <a:pPr algn="ctr">
              <a:spcAft>
                <a:spcPts val="200"/>
              </a:spcAft>
              <a:defRPr sz="1100">
                <a:solidFill>
                  <a:srgbClr val="4A5568"/>
                </a:solidFill>
                <a:latin typeface="Calibri"/>
              </a:defRPr>
            </a:pPr>
            <a:r>
              <a:t>API processing only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59" y="4114800"/>
            <a:ext cx="1737360" cy="210312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1999" y="42062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365D"/>
                </a:solidFill>
                <a:latin typeface="Calibri"/>
              </a:defRPr>
            </a:pPr>
            <a:r>
              <a:t>Audit Trail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1999" y="452628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Aft>
                <a:spcPts val="200"/>
              </a:spcAft>
              <a:defRPr sz="1100">
                <a:solidFill>
                  <a:srgbClr val="4A5568"/>
                </a:solidFill>
                <a:latin typeface="Calibri"/>
              </a:defRPr>
            </a:pPr>
            <a:r>
              <a:t>Every action logged</a:t>
            </a:r>
          </a:p>
          <a:p>
            <a:pPr algn="ctr">
              <a:spcAft>
                <a:spcPts val="200"/>
              </a:spcAft>
              <a:defRPr sz="1100">
                <a:solidFill>
                  <a:srgbClr val="4A5568"/>
                </a:solidFill>
                <a:latin typeface="Calibri"/>
              </a:defRPr>
            </a:pPr>
            <a:r>
              <a:t>Full compliance history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79" y="4114800"/>
            <a:ext cx="1737360" cy="210312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19" y="42062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365D"/>
                </a:solidFill>
                <a:latin typeface="Calibri"/>
              </a:defRPr>
            </a:pPr>
            <a:r>
              <a:t>Access Control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19" y="452628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Aft>
                <a:spcPts val="200"/>
              </a:spcAft>
              <a:defRPr sz="1100">
                <a:solidFill>
                  <a:srgbClr val="4A5568"/>
                </a:solidFill>
                <a:latin typeface="Calibri"/>
              </a:defRPr>
            </a:pPr>
            <a:r>
              <a:t>Role-based: AP, PM,</a:t>
            </a:r>
          </a:p>
          <a:p>
            <a:pPr algn="ctr">
              <a:spcAft>
                <a:spcPts val="200"/>
              </a:spcAft>
              <a:defRPr sz="1100">
                <a:solidFill>
                  <a:srgbClr val="4A5568"/>
                </a:solidFill>
                <a:latin typeface="Calibri"/>
              </a:defRPr>
            </a:pPr>
            <a:r>
              <a:t>Controller, CFO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599" y="4114800"/>
            <a:ext cx="1737360" cy="210312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39" y="42062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365D"/>
                </a:solidFill>
                <a:latin typeface="Calibri"/>
              </a:defRPr>
            </a:pPr>
            <a:r>
              <a:t>SOC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39" y="452628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Aft>
                <a:spcPts val="200"/>
              </a:spcAft>
              <a:defRPr sz="1100">
                <a:solidFill>
                  <a:srgbClr val="4A5568"/>
                </a:solidFill>
                <a:latin typeface="Calibri"/>
              </a:defRPr>
            </a:pPr>
            <a:r>
              <a:t>Enterprise controls</a:t>
            </a:r>
          </a:p>
          <a:p>
            <a:pPr algn="ctr">
              <a:spcAft>
                <a:spcPts val="200"/>
              </a:spcAft>
              <a:defRPr sz="1100">
                <a:solidFill>
                  <a:srgbClr val="4A5568"/>
                </a:solidFill>
                <a:latin typeface="Calibri"/>
              </a:defRPr>
            </a:pPr>
            <a:r>
              <a:t>Annual audits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104120" y="4114800"/>
            <a:ext cx="1737360" cy="210312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95560" y="42062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365D"/>
                </a:solidFill>
                <a:latin typeface="Calibri"/>
              </a:defRPr>
            </a:pPr>
            <a:r>
              <a:t>Data Ownership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95560" y="452628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Aft>
                <a:spcPts val="200"/>
              </a:spcAft>
              <a:defRPr sz="1100">
                <a:solidFill>
                  <a:srgbClr val="4A5568"/>
                </a:solidFill>
                <a:latin typeface="Calibri"/>
              </a:defRPr>
            </a:pPr>
            <a:r>
              <a:t>Your data, always</a:t>
            </a:r>
          </a:p>
          <a:p>
            <a:pPr algn="ctr">
              <a:spcAft>
                <a:spcPts val="200"/>
              </a:spcAft>
              <a:defRPr sz="1100">
                <a:solidFill>
                  <a:srgbClr val="4A5568"/>
                </a:solidFill>
                <a:latin typeface="Calibri"/>
              </a:defRPr>
            </a:pPr>
            <a:r>
              <a:t>Full export anytime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65D"/>
                </a:solidFill>
                <a:latin typeface="Calibri"/>
              </a:defRPr>
            </a:pPr>
            <a:r>
              <a:t>Live in 8 Weeks - Zero Disruption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4A5568"/>
                </a:solidFill>
                <a:latin typeface="Calibri"/>
              </a:defRPr>
            </a:pPr>
            <a:r>
              <a:t>Your team keeps working normally while we set up in parallel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26974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2606040" cy="4572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44752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Weeks 1-2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6596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365D"/>
                </a:solidFill>
                <a:latin typeface="Calibri"/>
              </a:defRPr>
            </a:pPr>
            <a:r>
              <a:t>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77440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Aft>
                <a:spcPts val="4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Connect Sage &amp; Procore</a:t>
            </a:r>
          </a:p>
          <a:p>
            <a:pPr algn="ctr">
              <a:spcAft>
                <a:spcPts val="4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Import chart of accounts</a:t>
            </a:r>
          </a:p>
          <a:p>
            <a:pPr algn="ctr">
              <a:spcAft>
                <a:spcPts val="4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Configure cost codes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371600"/>
            <a:ext cx="26974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9000" y="1417320"/>
            <a:ext cx="2606040" cy="4572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444752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Weeks 3-4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196596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365D"/>
                </a:solidFill>
                <a:latin typeface="Calibri"/>
              </a:defRPr>
            </a:pPr>
            <a:r>
              <a:t>Calibrate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377440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Aft>
                <a:spcPts val="4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Process real invoices</a:t>
            </a:r>
          </a:p>
          <a:p>
            <a:pPr algn="ctr">
              <a:spcAft>
                <a:spcPts val="4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Tune AI to your patterns</a:t>
            </a:r>
          </a:p>
          <a:p>
            <a:pPr algn="ctr">
              <a:spcAft>
                <a:spcPts val="4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Verify accuracy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371600"/>
            <a:ext cx="26974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5080" y="1417320"/>
            <a:ext cx="2606040" cy="45720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444752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Weeks 5-6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196596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365D"/>
                </a:solidFill>
                <a:latin typeface="Calibri"/>
              </a:defRPr>
            </a:pPr>
            <a:r>
              <a:t>Shadow Mode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377440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Aft>
                <a:spcPts val="4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AI runs alongside team</a:t>
            </a:r>
          </a:p>
          <a:p>
            <a:pPr algn="ctr">
              <a:spcAft>
                <a:spcPts val="4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Compare results</a:t>
            </a:r>
          </a:p>
          <a:p>
            <a:pPr algn="ctr">
              <a:spcAft>
                <a:spcPts val="4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Build confidence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1371600"/>
            <a:ext cx="26974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81160" y="1417320"/>
            <a:ext cx="2606040" cy="45720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0" y="1444752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Weeks 7-8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196596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365D"/>
                </a:solidFill>
                <a:latin typeface="Calibri"/>
              </a:defRPr>
            </a:pPr>
            <a:r>
              <a:t>Go Live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2377440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Aft>
                <a:spcPts val="4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AI handles routine</a:t>
            </a:r>
          </a:p>
          <a:p>
            <a:pPr algn="ctr">
              <a:spcAft>
                <a:spcPts val="4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Team handles exceptions</a:t>
            </a:r>
          </a:p>
          <a:p>
            <a:pPr algn="ctr">
              <a:spcAft>
                <a:spcPts val="4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Start saving day one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297680"/>
            <a:ext cx="3383280" cy="1188720"/>
          </a:xfrm>
          <a:prstGeom prst="roundRect">
            <a:avLst/>
          </a:prstGeom>
          <a:solidFill>
            <a:srgbClr val="EBF4FF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3891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365D"/>
                </a:solidFill>
                <a:latin typeface="Calibri"/>
              </a:defRPr>
            </a:pPr>
            <a:r>
              <a:t>Zero Disruption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70916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Aft>
                <a:spcPts val="200"/>
              </a:spcAft>
              <a:defRPr sz="1200">
                <a:solidFill>
                  <a:srgbClr val="1A365D"/>
                </a:solidFill>
                <a:latin typeface="Calibri"/>
              </a:defRPr>
            </a:pPr>
            <a:r>
              <a:t>Your team works normally.</a:t>
            </a:r>
          </a:p>
          <a:p>
            <a:pPr algn="ctr">
              <a:spcAft>
                <a:spcPts val="200"/>
              </a:spcAft>
              <a:defRPr sz="1200">
                <a:solidFill>
                  <a:srgbClr val="1A365D"/>
                </a:solidFill>
                <a:latin typeface="Calibri"/>
              </a:defRPr>
            </a:pPr>
            <a:r>
              <a:t>AI runs in parallel.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80559" y="4297680"/>
            <a:ext cx="3383280" cy="1188720"/>
          </a:xfrm>
          <a:prstGeom prst="roundRect">
            <a:avLst/>
          </a:prstGeom>
          <a:solidFill>
            <a:srgbClr val="EBF4FF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63439" y="43891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365D"/>
                </a:solidFill>
                <a:latin typeface="Calibri"/>
              </a:defRPr>
            </a:pPr>
            <a:r>
              <a:t>Immediate Value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39" y="470916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Aft>
                <a:spcPts val="200"/>
              </a:spcAft>
              <a:defRPr sz="1200">
                <a:solidFill>
                  <a:srgbClr val="1A365D"/>
                </a:solidFill>
                <a:latin typeface="Calibri"/>
              </a:defRPr>
            </a:pPr>
            <a:r>
              <a:t>ROI from week one</a:t>
            </a:r>
          </a:p>
          <a:p>
            <a:pPr algn="ctr">
              <a:spcAft>
                <a:spcPts val="200"/>
              </a:spcAft>
              <a:defRPr sz="1200">
                <a:solidFill>
                  <a:srgbClr val="1A365D"/>
                </a:solidFill>
                <a:latin typeface="Calibri"/>
              </a:defRPr>
            </a:pPr>
            <a:r>
              <a:t>of go-live.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599" y="4297680"/>
            <a:ext cx="3383280" cy="1188720"/>
          </a:xfrm>
          <a:prstGeom prst="roundRect">
            <a:avLst/>
          </a:prstGeom>
          <a:solidFill>
            <a:srgbClr val="EBF4FF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79" y="43891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365D"/>
                </a:solidFill>
                <a:latin typeface="Calibri"/>
              </a:defRPr>
            </a:pPr>
            <a:r>
              <a:t>Risk-Free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79" y="470916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Aft>
                <a:spcPts val="200"/>
              </a:spcAft>
              <a:defRPr sz="1200">
                <a:solidFill>
                  <a:srgbClr val="1A365D"/>
                </a:solidFill>
                <a:latin typeface="Calibri"/>
              </a:defRPr>
            </a:pPr>
            <a:r>
              <a:t>Shadow mode proves it.</a:t>
            </a:r>
          </a:p>
          <a:p>
            <a:pPr algn="ctr">
              <a:spcAft>
                <a:spcPts val="200"/>
              </a:spcAft>
              <a:defRPr sz="1200">
                <a:solidFill>
                  <a:srgbClr val="1A365D"/>
                </a:solidFill>
                <a:latin typeface="Calibri"/>
              </a:defRPr>
            </a:pPr>
            <a:r>
              <a:t>Cancel anytime.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5669280"/>
            <a:ext cx="10698480" cy="822960"/>
          </a:xfrm>
          <a:prstGeom prst="roundRect">
            <a:avLst/>
          </a:prstGeom>
          <a:solidFill>
            <a:srgbClr val="C6F6D5"/>
          </a:solidFill>
          <a:ln w="12700"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71500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76749"/>
                </a:solidFill>
                <a:latin typeface="Calibri"/>
              </a:defRPr>
            </a:pPr>
            <a:r>
              <a:t>What is Shadow Mode?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9893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76749"/>
                </a:solidFill>
                <a:latin typeface="Calibri"/>
              </a:defRPr>
            </a:pPr>
            <a:r>
              <a:t>AI processes every invoice alongside your team - but doesn't post anything. You compare results side by side. When you trust the numbers, flip the switch.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65D"/>
                </a:solidFill>
                <a:latin typeface="Calibri"/>
              </a:defRPr>
            </a:pPr>
            <a:r>
              <a:t>Investment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188720"/>
            <a:ext cx="320040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258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B6CB0"/>
                </a:solidFill>
                <a:latin typeface="Calibri"/>
              </a:defRPr>
            </a:pPr>
            <a:r>
              <a:t>Starter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1A202C"/>
                </a:solidFill>
                <a:latin typeface="Calibri"/>
              </a:defRPr>
            </a:pPr>
            <a:r>
              <a:t>$500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A5568"/>
                </a:solidFill>
                <a:latin typeface="Calibri"/>
              </a:defRPr>
            </a:pPr>
            <a:r>
              <a:t>/month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468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Calibri"/>
              </a:defRPr>
            </a:pPr>
            <a:r>
              <a:t>  Up to 1,000 invoices/mo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788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Calibri"/>
              </a:defRPr>
            </a:pPr>
            <a:r>
              <a:t>  5 users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108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Calibri"/>
              </a:defRPr>
            </a:pPr>
            <a:r>
              <a:t>  Sage integration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42899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Calibri"/>
              </a:defRPr>
            </a:pPr>
            <a:r>
              <a:t>  AI extraction &amp; coding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749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Calibri"/>
              </a:defRPr>
            </a:pPr>
            <a:r>
              <a:t>  Email ingestion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069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Calibri"/>
              </a:defRPr>
            </a:pPr>
            <a:r>
              <a:t>  AP aging 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38911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Calibri"/>
              </a:defRPr>
            </a:pPr>
            <a:r>
              <a:t>  Standard support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4840" y="868680"/>
            <a:ext cx="3291840" cy="32004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8686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RECOMMENDED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60" y="1188720"/>
            <a:ext cx="3200400" cy="512064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13258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8A169"/>
                </a:solidFill>
                <a:latin typeface="Calibri"/>
              </a:defRPr>
            </a:pPr>
            <a:r>
              <a:t>Professional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16916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1A202C"/>
                </a:solidFill>
                <a:latin typeface="Calibri"/>
              </a:defRPr>
            </a:pPr>
            <a:r>
              <a:t>$1,500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1488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A5568"/>
                </a:solidFill>
                <a:latin typeface="Calibri"/>
              </a:defRPr>
            </a:pPr>
            <a:r>
              <a:t>/month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2468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Calibri"/>
              </a:defRPr>
            </a:pPr>
            <a:r>
              <a:t>  Up to 5,000 invoices/mo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60" y="2788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Calibri"/>
              </a:defRPr>
            </a:pPr>
            <a:r>
              <a:t>  Unlimited users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3108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Calibri"/>
              </a:defRPr>
            </a:pPr>
            <a:r>
              <a:t>  Sage + Procore integration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342899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Calibri"/>
              </a:defRPr>
            </a:pPr>
            <a:r>
              <a:t>  AIA billing &amp; lien waivers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3749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Calibri"/>
              </a:defRPr>
            </a:pPr>
            <a:r>
              <a:t>  Retention tracking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60" y="4069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Calibri"/>
              </a:defRPr>
            </a:pPr>
            <a:r>
              <a:t>  Fraud detection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438911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Calibri"/>
              </a:defRPr>
            </a:pPr>
            <a:r>
              <a:t>  Cash flow forecasting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470915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Calibri"/>
              </a:defRPr>
            </a:pPr>
            <a:r>
              <a:t>  Early-pay discount capture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9160" y="5029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Calibri"/>
              </a:defRPr>
            </a:pPr>
            <a:r>
              <a:t>  Job profitability alerts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9160" y="5349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Calibri"/>
              </a:defRPr>
            </a:pPr>
            <a:r>
              <a:t>  Vendor spend analytics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09160" y="5669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Calibri"/>
              </a:defRPr>
            </a:pPr>
            <a:r>
              <a:t>  Priority support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20" y="1188720"/>
            <a:ext cx="320040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38160" y="13258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365D"/>
                </a:solidFill>
                <a:latin typeface="Calibri"/>
              </a:defRPr>
            </a:pPr>
            <a:r>
              <a:t>Enterprise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16916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1A202C"/>
                </a:solidFill>
                <a:latin typeface="Calibri"/>
              </a:defRPr>
            </a:pPr>
            <a:r>
              <a:t>Custom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2468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Calibri"/>
              </a:defRPr>
            </a:pPr>
            <a:r>
              <a:t>  Unlimited invoices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20" y="2788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Calibri"/>
              </a:defRPr>
            </a:pPr>
            <a:r>
              <a:t>  Unlimited users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20" y="3108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Calibri"/>
              </a:defRPr>
            </a:pPr>
            <a:r>
              <a:t>  All integrations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342899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Calibri"/>
              </a:defRPr>
            </a:pPr>
            <a:r>
              <a:t>  Over/under billing (WIP)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20" y="3749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Calibri"/>
              </a:defRPr>
            </a:pPr>
            <a:r>
              <a:t>  Bonding capacity tracking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20" y="4069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Calibri"/>
              </a:defRPr>
            </a:pPr>
            <a:r>
              <a:t>  Tax optimization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75320" y="438911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Calibri"/>
              </a:defRPr>
            </a:pPr>
            <a:r>
              <a:t>  Audit-ready package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75320" y="470915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Calibri"/>
              </a:defRPr>
            </a:pPr>
            <a:r>
              <a:t>  Vendor scorecard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75320" y="5029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Calibri"/>
              </a:defRPr>
            </a:pPr>
            <a:r>
              <a:t>  Dedicated account manager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75320" y="5349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Calibri"/>
              </a:defRPr>
            </a:pPr>
            <a:r>
              <a:t>  Custom workflows &amp; SLA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64465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A5568"/>
                </a:solidFill>
                <a:latin typeface="Calibri"/>
              </a:defRPr>
            </a:pPr>
            <a:r>
              <a:t>All plans: AI extraction, GL coding, approval workflows, duplicate detection, audit trail. Annual billing available (2 months free).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65D"/>
                </a:solidFill>
                <a:latin typeface="Calibri"/>
              </a:defRPr>
            </a:pPr>
            <a:r>
              <a:t>Total First-Year Value: $603,000+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4A5568"/>
                </a:solidFill>
                <a:latin typeface="Calibri"/>
              </a:defRPr>
            </a:pPr>
            <a:r>
              <a:t>For a $18,000 investment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371600" y="1371600"/>
          <a:ext cx="91440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4846320"/>
            <a:ext cx="21031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49377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A5568"/>
                </a:solidFill>
                <a:latin typeface="Calibri"/>
              </a:defRPr>
            </a:pPr>
            <a:r>
              <a:t>AP SAVINGS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166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38A169"/>
                </a:solidFill>
                <a:latin typeface="Calibri"/>
              </a:defRPr>
            </a:pPr>
            <a:r>
              <a:t>$462K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6235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5568"/>
                </a:solidFill>
                <a:latin typeface="Calibri"/>
              </a:defRPr>
            </a:pPr>
            <a:r>
              <a:t>81% cost reduction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0" y="4846320"/>
            <a:ext cx="21031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6120" y="49377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A5568"/>
                </a:solidFill>
                <a:latin typeface="Calibri"/>
              </a:defRPr>
            </a:pPr>
            <a:r>
              <a:t>DISCOUNTS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5166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319095"/>
                </a:solidFill>
                <a:latin typeface="Calibri"/>
              </a:defRPr>
            </a:pPr>
            <a:r>
              <a:t>$83.5K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56235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5568"/>
                </a:solidFill>
                <a:latin typeface="Calibri"/>
              </a:defRPr>
            </a:pPr>
            <a:r>
              <a:t>Money found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0" y="4846320"/>
            <a:ext cx="21031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23560" y="49377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A5568"/>
                </a:solidFill>
                <a:latin typeface="Calibri"/>
              </a:defRPr>
            </a:pPr>
            <a:r>
              <a:t>TAX + LOSSES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23560" y="5166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6B46C1"/>
                </a:solidFill>
                <a:latin typeface="Calibri"/>
              </a:defRPr>
            </a:pPr>
            <a:r>
              <a:t>$75K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23560" y="56235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5568"/>
                </a:solidFill>
                <a:latin typeface="Calibri"/>
              </a:defRPr>
            </a:pPr>
            <a:r>
              <a:t>Optimization + prevention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4846320"/>
            <a:ext cx="21031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01000" y="49377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A5568"/>
                </a:solidFill>
                <a:latin typeface="Calibri"/>
              </a:defRPr>
            </a:pPr>
            <a:r>
              <a:t>SOFTWARE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5166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E53E3E"/>
                </a:solidFill>
                <a:latin typeface="Calibri"/>
              </a:defRPr>
            </a:pPr>
            <a:r>
              <a:t>-$18K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56235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5568"/>
                </a:solidFill>
                <a:latin typeface="Calibri"/>
              </a:defRPr>
            </a:pPr>
            <a:r>
              <a:t>Annual cost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41280" y="4846320"/>
            <a:ext cx="15544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378440" y="493776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A5568"/>
                </a:solidFill>
                <a:latin typeface="Calibri"/>
              </a:defRPr>
            </a:pPr>
            <a:r>
              <a:t>NET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78440" y="51663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38A169"/>
                </a:solidFill>
                <a:latin typeface="Calibri"/>
              </a:defRPr>
            </a:pPr>
            <a:r>
              <a:t>$603K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78440" y="562356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A5568"/>
                </a:solidFill>
                <a:latin typeface="Calibri"/>
              </a:defRPr>
            </a:pPr>
            <a:r>
              <a:t>First year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Ready to Save $603,000 in Year One?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3716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0CEF0"/>
                </a:solidFill>
                <a:latin typeface="Calibri"/>
              </a:defRPr>
            </a:pPr>
            <a:r>
              <a:t>Three steps to transform your AP - zero risk:</a:t>
            </a:r>
          </a:p>
        </p:txBody>
      </p:sp>
      <p:sp>
        <p:nvSpPr>
          <p:cNvPr id="5" name="Oval 4"/>
          <p:cNvSpPr/>
          <p:nvPr/>
        </p:nvSpPr>
        <p:spPr>
          <a:xfrm>
            <a:off x="2103120" y="3108960"/>
            <a:ext cx="731520" cy="731520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31546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Free Invoice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347472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100"/>
              </a:spcAft>
              <a:defRPr sz="1300">
                <a:solidFill>
                  <a:srgbClr val="CBD5E0"/>
                </a:solidFill>
                <a:latin typeface="Calibri"/>
              </a:defRPr>
            </a:pPr>
            <a:r>
              <a:t>Share 50 sample invoices. We run them through the AI</a:t>
            </a:r>
          </a:p>
          <a:p>
            <a:pPr algn="l">
              <a:spcAft>
                <a:spcPts val="100"/>
              </a:spcAft>
              <a:defRPr sz="1300">
                <a:solidFill>
                  <a:srgbClr val="CBD5E0"/>
                </a:solidFill>
                <a:latin typeface="Calibri"/>
              </a:defRPr>
            </a:pPr>
            <a:r>
              <a:t>and show you extraction results. No commitment. No cost.</a:t>
            </a:r>
          </a:p>
        </p:txBody>
      </p:sp>
      <p:sp>
        <p:nvSpPr>
          <p:cNvPr id="8" name="Oval 7"/>
          <p:cNvSpPr/>
          <p:nvPr/>
        </p:nvSpPr>
        <p:spPr>
          <a:xfrm>
            <a:off x="2103120" y="4160520"/>
            <a:ext cx="731520" cy="731520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4206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2-Week Shadow 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45262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100"/>
              </a:spcAft>
              <a:defRPr sz="1300">
                <a:solidFill>
                  <a:srgbClr val="CBD5E0"/>
                </a:solidFill>
                <a:latin typeface="Calibri"/>
              </a:defRPr>
            </a:pPr>
            <a:r>
              <a:t>AI processes your real invoices alongside your team.</a:t>
            </a:r>
          </a:p>
          <a:p>
            <a:pPr algn="l">
              <a:spcAft>
                <a:spcPts val="100"/>
              </a:spcAft>
              <a:defRPr sz="1300">
                <a:solidFill>
                  <a:srgbClr val="CBD5E0"/>
                </a:solidFill>
                <a:latin typeface="Calibri"/>
              </a:defRPr>
            </a:pPr>
            <a:r>
              <a:t>Compare accuracy side by side. See the savings in real numbers.</a:t>
            </a:r>
          </a:p>
        </p:txBody>
      </p:sp>
      <p:sp>
        <p:nvSpPr>
          <p:cNvPr id="11" name="Oval 10"/>
          <p:cNvSpPr/>
          <p:nvPr/>
        </p:nvSpPr>
        <p:spPr>
          <a:xfrm>
            <a:off x="2103120" y="5212080"/>
            <a:ext cx="731520" cy="731520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52578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Go Live With Confidence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557784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100"/>
              </a:spcAft>
              <a:defRPr sz="1300">
                <a:solidFill>
                  <a:srgbClr val="CBD5E0"/>
                </a:solidFill>
                <a:latin typeface="Calibri"/>
              </a:defRPr>
            </a:pPr>
            <a:r>
              <a:t>Only when you've seen the proof. Start saving from day one.</a:t>
            </a:r>
          </a:p>
          <a:p>
            <a:pPr algn="l">
              <a:spcAft>
                <a:spcPts val="100"/>
              </a:spcAft>
              <a:defRPr sz="1300">
                <a:solidFill>
                  <a:srgbClr val="CBD5E0"/>
                </a:solidFill>
                <a:latin typeface="Calibri"/>
              </a:defRPr>
            </a:pPr>
            <a:r>
              <a:t>Cancel anytime. No long-term contract required.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18096"/>
                </a:solidFill>
                <a:latin typeface="Calibri"/>
              </a:defRPr>
            </a:pPr>
            <a:r>
              <a:t>PayFlow AI  |  AI-Powered AP Automation for Construction  |  payflowai.com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