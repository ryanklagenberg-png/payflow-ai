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dPt>
            <c:idx val="0"/>
            <c:spPr>
              <a:solidFill>
                <a:srgbClr val="1A365D"/>
              </a:solidFill>
            </c:spPr>
          </c:dPt>
          <c:dPt>
            <c:idx val="1"/>
            <c:spPr>
              <a:solidFill>
                <a:srgbClr val="E53E3E"/>
              </a:solidFill>
            </c:spPr>
          </c:dPt>
          <c:dPt>
            <c:idx val="2"/>
            <c:spPr>
              <a:solidFill>
                <a:srgbClr val="DD6B20"/>
              </a:solidFill>
            </c:spPr>
          </c:dPt>
          <c:dPt>
            <c:idx val="3"/>
            <c:spPr>
              <a:solidFill>
                <a:srgbClr val="2B6CB0"/>
              </a:solidFill>
            </c:spPr>
          </c:dPt>
          <c:dPt>
            <c:idx val="4"/>
            <c:spPr>
              <a:solidFill>
                <a:srgbClr val="4A5568"/>
              </a:solidFill>
            </c:spPr>
          </c:dPt>
          <c:cat>
            <c:strRef>
              <c:f>Sheet1!$A$2:$A$6</c:f>
              <c:strCache>
                <c:ptCount val="5"/>
                <c:pt idx="0">
                  <c:v>AP Staff Labor
$360K</c:v>
                </c:pt>
                <c:pt idx="1">
                  <c:v>Error Correction
$72K</c:v>
                </c:pt>
                <c:pt idx="2">
                  <c:v>Late Payments &amp;
Missed Discounts
$90K</c:v>
                </c:pt>
                <c:pt idx="3">
                  <c:v>Overhead
$36K</c:v>
                </c:pt>
                <c:pt idx="4">
                  <c:v>Vendor
Follow-ups
$18K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360</c:v>
                </c:pt>
                <c:pt idx="1">
                  <c:v>72</c:v>
                </c:pt>
                <c:pt idx="2">
                  <c:v>90</c:v>
                </c:pt>
                <c:pt idx="3">
                  <c:v>36</c:v>
                </c:pt>
                <c:pt idx="4">
                  <c:v>18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000">
              <a:solidFill>
                <a:srgbClr val="4A556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Manual (Today)</c:v>
                </c:pt>
              </c:strCache>
            </c:strRef>
          </c:tx>
          <c:spPr>
            <a:solidFill>
              <a:srgbClr val="E53E3E"/>
            </a:solidFill>
          </c:spPr>
          <c:cat>
            <c:strRef>
              <c:f>Sheet1!$A$2:$A$5</c:f>
              <c:strCache>
                <c:ptCount val="4"/>
                <c:pt idx="0">
                  <c:v>Time per
Invoice</c:v>
                </c:pt>
                <c:pt idx="1">
                  <c:v>Cost per
Invoice</c:v>
                </c:pt>
                <c:pt idx="2">
                  <c:v>Error
Rate</c:v>
                </c:pt>
                <c:pt idx="3">
                  <c:v>Days to
Payment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16</c:v>
                </c:pt>
                <c:pt idx="2">
                  <c:v>4</c:v>
                </c:pt>
                <c:pt idx="3">
                  <c:v>14.6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PayFlow AI</c:v>
                </c:pt>
              </c:strCache>
            </c:strRef>
          </c:tx>
          <c:spPr>
            <a:solidFill>
              <a:srgbClr val="38A169"/>
            </a:solidFill>
          </c:spPr>
          <c:cat>
            <c:strRef>
              <c:f>Sheet1!$A$2:$A$5</c:f>
              <c:strCache>
                <c:ptCount val="4"/>
                <c:pt idx="0">
                  <c:v>Time per
Invoice</c:v>
                </c:pt>
                <c:pt idx="1">
                  <c:v>Cost per
Invoice</c:v>
                </c:pt>
                <c:pt idx="2">
                  <c:v>Error
Rate</c:v>
                </c:pt>
                <c:pt idx="3">
                  <c:v>Days to
Payment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0.08</c:v>
                </c:pt>
                <c:pt idx="1">
                  <c:v>3</c:v>
                </c:pt>
                <c:pt idx="2">
                  <c:v>0.5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 (Manual)</c:v>
                </c:pt>
              </c:strCache>
            </c:strRef>
          </c:tx>
          <c:spPr>
            <a:solidFill>
              <a:srgbClr val="E53E3E"/>
            </a:solidFill>
          </c:spPr>
          <c:cat>
            <c:strRef>
              <c:f>Sheet1!$A$2:$A$2</c:f>
              <c:strCache>
                <c:ptCount val="1"/>
                <c:pt idx="0">
                  <c:v>Annual AP Cost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576000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PayFlow AI</c:v>
                </c:pt>
              </c:strCache>
            </c:strRef>
          </c:tx>
          <c:spPr>
            <a:solidFill>
              <a:srgbClr val="2B6CB0"/>
            </a:solidFill>
          </c:spPr>
          <c:cat>
            <c:strRef>
              <c:f>Sheet1!$A$2:$A$2</c:f>
              <c:strCache>
                <c:ptCount val="1"/>
                <c:pt idx="0">
                  <c:v>Annual AP Cost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114000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Your Savings</c:v>
                </c:pt>
              </c:strCache>
            </c:strRef>
          </c:tx>
          <c:spPr>
            <a:solidFill>
              <a:srgbClr val="38A169"/>
            </a:solidFill>
          </c:spPr>
          <c:cat>
            <c:strRef>
              <c:f>Sheet1!$A$2:$A$2</c:f>
              <c:strCache>
                <c:ptCount val="1"/>
                <c:pt idx="0">
                  <c:v>Annual AP Cost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462000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4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Manual AP Cost</c:v>
                </c:pt>
              </c:strCache>
            </c:strRef>
          </c:tx>
          <c:spPr>
            <a:solidFill>
              <a:srgbClr val="E53E3E"/>
            </a:solidFill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576000</c:v>
                </c:pt>
                <c:pt idx="1">
                  <c:v>604800</c:v>
                </c:pt>
                <c:pt idx="2">
                  <c:v>635040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PayFlow AI</c:v>
                </c:pt>
              </c:strCache>
            </c:strRef>
          </c:tx>
          <c:spPr>
            <a:solidFill>
              <a:srgbClr val="2B6CB0"/>
            </a:solidFill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114000</c:v>
                </c:pt>
                <c:pt idx="1">
                  <c:v>118200</c:v>
                </c:pt>
                <c:pt idx="2">
                  <c:v>122400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Cumulative Savings</c:v>
                </c:pt>
              </c:strCache>
            </c:strRef>
          </c:tx>
          <c:spPr>
            <a:solidFill>
              <a:srgbClr val="38A169"/>
            </a:solidFill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462000</c:v>
                </c:pt>
                <c:pt idx="1">
                  <c:v>948600</c:v>
                </c:pt>
                <c:pt idx="2">
                  <c:v>1461240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2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AI Accuracy %</c:v>
                </c:pt>
              </c:strCache>
            </c:strRef>
          </c:tx>
          <c:spPr>
            <a:solidFill>
              <a:srgbClr val="2B6CB0"/>
            </a:solidFill>
          </c:spPr>
          <c:cat>
            <c:strRef>
              <c:f>Sheet1!$A$2:$A$8</c:f>
              <c:strCache>
                <c:ptCount val="7"/>
                <c:pt idx="0">
                  <c:v>Invoice
Number</c:v>
                </c:pt>
                <c:pt idx="1">
                  <c:v>Date</c:v>
                </c:pt>
                <c:pt idx="2">
                  <c:v>Vendor
Name</c:v>
                </c:pt>
                <c:pt idx="3">
                  <c:v>Total
Amount</c:v>
                </c:pt>
                <c:pt idx="4">
                  <c:v>Line Items</c:v>
                </c:pt>
                <c:pt idx="5">
                  <c:v>PO Number</c:v>
                </c:pt>
                <c:pt idx="6">
                  <c:v>GL Code
Prediction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99.5</c:v>
                </c:pt>
                <c:pt idx="4">
                  <c:v>96</c:v>
                </c:pt>
                <c:pt idx="5">
                  <c:v>97</c:v>
                </c:pt>
                <c:pt idx="6">
                  <c:v>92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8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800" b="1">
                <a:solidFill>
                  <a:srgbClr val="FFFFFF"/>
                </a:solidFill>
                <a:latin typeface="Calibri"/>
              </a:defRPr>
            </a:pPr>
            <a:r>
              <a:t>PayFlow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A0CEF0"/>
                </a:solidFill>
                <a:latin typeface="Calibri"/>
              </a:defRPr>
            </a:pPr>
            <a:r>
              <a:t>AI-Powered Accounts Payable Automation for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0"/>
                </a:solidFill>
                <a:latin typeface="Calibri"/>
              </a:defRPr>
            </a:pPr>
            <a:r>
              <a:t>Stop paying $576,000/year to process invoices manually.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0"/>
                </a:solidFill>
                <a:latin typeface="Calibri"/>
              </a:defRPr>
            </a:pPr>
            <a:r>
              <a:t>Start processing them in 5 seconds for pennies.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8096"/>
                </a:solidFill>
                <a:latin typeface="Calibri"/>
              </a:defRPr>
            </a:pPr>
            <a:r>
              <a:t>Confidential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Your AP Department 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Calibri"/>
              </a:defRPr>
            </a:pPr>
            <a:r>
              <a:t>Based on 3,000 invoices per month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286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INVOICES / 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A365D"/>
                </a:solidFill>
                <a:latin typeface="Calibri"/>
              </a:defRPr>
            </a:pPr>
            <a:r>
              <a:t>3,000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286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463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COST PER INVOICE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53E3E"/>
                </a:solidFill>
                <a:latin typeface="Calibri"/>
              </a:defRPr>
            </a:pPr>
            <a:r>
              <a:t>$16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148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Industry average (construction)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371600"/>
            <a:ext cx="2286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463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MONTHLY AP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53E3E"/>
                </a:solidFill>
                <a:latin typeface="Calibri"/>
              </a:defRPr>
            </a:pPr>
            <a:r>
              <a:t>$48,000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148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Labor + errors + overhead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371600"/>
            <a:ext cx="2286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463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ANNUAL AP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53E3E"/>
                </a:solidFill>
                <a:latin typeface="Calibri"/>
              </a:defRPr>
            </a:pPr>
            <a:r>
              <a:t>$576,000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148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Going out the door every year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731520" y="274320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21792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65D"/>
                </a:solidFill>
                <a:latin typeface="Calibri"/>
              </a:defRPr>
            </a:pPr>
            <a:r>
              <a:t>Where Your $576,000 Goes: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004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  <a:latin typeface="Calibri"/>
              </a:defRPr>
            </a:pPr>
            <a:r>
              <a:t>62% ($360K) — Staff manually typing invoice data into Sage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  <a:latin typeface="Calibri"/>
              </a:defRPr>
            </a:pPr>
            <a:r>
              <a:t>16% ($90K) — Late payment penalties and missed early-pay discounts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  <a:latin typeface="Calibri"/>
              </a:defRPr>
            </a:pPr>
            <a:r>
              <a:t>13% ($72K) — Finding and fixing data entry errors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  <a:latin typeface="Calibri"/>
              </a:defRPr>
            </a:pPr>
            <a:r>
              <a:t>6% ($36K) — Office space, software, printing, filing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  <a:latin typeface="Calibri"/>
              </a:defRPr>
            </a:pPr>
            <a:r>
              <a:t>3% ($18K) — Calling vendors about payment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Calibri"/>
              </a:defRPr>
            </a:pPr>
            <a:r>
              <a:t>The #1 cost driver is manual data entry — exactly what AI eliminates.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PayFlow AI: 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Calibri"/>
              </a:defRPr>
            </a:pPr>
            <a:r>
              <a:t>AI reads, codes, matches, and routes invoices — in seconds, not days.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3291840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65D"/>
                </a:solidFill>
                <a:latin typeface="Calibri"/>
              </a:defRPr>
            </a:pPr>
            <a:r>
              <a:t>AI Invoice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Reads any invoice format — PDF, scan,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photo, email. Extracts every field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with 99% accuracy. No templates.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630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508760"/>
            <a:ext cx="3291840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65D"/>
                </a:solidFill>
                <a:latin typeface="Calibri"/>
              </a:defRPr>
            </a:pPr>
            <a:r>
              <a:t>5-Dimensional Job Costing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Predicts GL account, job number,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phase, cost code, and cost type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for every line item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508760"/>
            <a:ext cx="3291840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91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65D"/>
                </a:solidFill>
                <a:latin typeface="Calibri"/>
              </a:defRPr>
            </a:pPr>
            <a:r>
              <a:t>Three-Way PO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Matches invoices against POs and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receiving reports. Flags price and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quantity variances instantly.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77640"/>
            <a:ext cx="3291840" cy="7315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65D"/>
                </a:solidFill>
                <a:latin typeface="Calibri"/>
              </a:defRPr>
            </a:pPr>
            <a:r>
              <a:t>AIA Progress Billing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Reads G702/G703 forms natively.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Extracts schedule of values, tracks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percent complete, verifies totals.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931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977640"/>
            <a:ext cx="3291840" cy="7315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160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65D"/>
                </a:solidFill>
                <a:latin typeface="Calibri"/>
              </a:defRPr>
            </a:pPr>
            <a:r>
              <a:t>Lien Waiver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572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AI reads and classifies waivers.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Blocks payment if missing.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4 waiver types, state-aware.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931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3977640"/>
            <a:ext cx="3291840" cy="7315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160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65D"/>
                </a:solidFill>
                <a:latin typeface="Calibri"/>
              </a:defRPr>
            </a:pPr>
            <a:r>
              <a:t>Fraud &amp; Anomaly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572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Catches duplicates, overbilling,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price spikes, and suspicious patterns.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Real-time risk scoring.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280160"/>
            <a:ext cx="822960" cy="82296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828800" y="1508760"/>
            <a:ext cx="411480" cy="36576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Invoice</a:t>
            </a:r>
            <a:br/>
            <a:r>
              <a:t>Arrives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Email, upload,</a:t>
            </a:r>
            <a:br/>
            <a:r>
              <a:t>scan, or portal</a:t>
            </a:r>
          </a:p>
        </p:txBody>
      </p:sp>
      <p:sp>
        <p:nvSpPr>
          <p:cNvPr id="8" name="Oval 7"/>
          <p:cNvSpPr/>
          <p:nvPr/>
        </p:nvSpPr>
        <p:spPr>
          <a:xfrm>
            <a:off x="2834640" y="1280160"/>
            <a:ext cx="822960" cy="82296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1508760"/>
            <a:ext cx="411480" cy="36576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AI Reads</a:t>
            </a:r>
            <a:br/>
            <a:r>
              <a:t>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Extracts all fields</a:t>
            </a:r>
            <a:br/>
            <a:r>
              <a:t>in 3-5 seconds</a:t>
            </a:r>
          </a:p>
        </p:txBody>
      </p:sp>
      <p:sp>
        <p:nvSpPr>
          <p:cNvPr id="12" name="Oval 11"/>
          <p:cNvSpPr/>
          <p:nvPr/>
        </p:nvSpPr>
        <p:spPr>
          <a:xfrm>
            <a:off x="4800600" y="1280160"/>
            <a:ext cx="822960" cy="82296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60720" y="1508760"/>
            <a:ext cx="411480" cy="36576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AI Codes</a:t>
            </a:r>
            <a:br/>
            <a:r>
              <a:t>to Job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GL, job, phase,</a:t>
            </a:r>
            <a:br/>
            <a:r>
              <a:t>cost code, type</a:t>
            </a:r>
          </a:p>
        </p:txBody>
      </p:sp>
      <p:sp>
        <p:nvSpPr>
          <p:cNvPr id="16" name="Oval 15"/>
          <p:cNvSpPr/>
          <p:nvPr/>
        </p:nvSpPr>
        <p:spPr>
          <a:xfrm>
            <a:off x="6766559" y="1280160"/>
            <a:ext cx="822960" cy="82296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726679" y="1508760"/>
            <a:ext cx="411480" cy="36576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39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AI Validates</a:t>
            </a:r>
            <a:br/>
            <a:r>
              <a:t>&amp; Matches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39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PO match, fraud</a:t>
            </a:r>
            <a:br/>
            <a:r>
              <a:t>check, compliance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1280160"/>
            <a:ext cx="822960" cy="82296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692640" y="1508760"/>
            <a:ext cx="411480" cy="36576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Route or</a:t>
            </a:r>
            <a:br/>
            <a:r>
              <a:t>Auto-Approve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85%+ go straight</a:t>
            </a:r>
            <a:br/>
            <a:r>
              <a:t>through</a:t>
            </a:r>
          </a:p>
        </p:txBody>
      </p:sp>
      <p:sp>
        <p:nvSpPr>
          <p:cNvPr id="24" name="Oval 23"/>
          <p:cNvSpPr/>
          <p:nvPr/>
        </p:nvSpPr>
        <p:spPr>
          <a:xfrm>
            <a:off x="10698480" y="1280160"/>
            <a:ext cx="822960" cy="82296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Posts to</a:t>
            </a:r>
            <a:br/>
            <a:r>
              <a:t>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Syncs directly</a:t>
            </a:r>
            <a:br/>
            <a:r>
              <a:t>to your ERP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731520" y="2926080"/>
          <a:ext cx="54864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58368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65D"/>
                </a:solidFill>
                <a:latin typeface="Calibri"/>
              </a:defRPr>
            </a:pPr>
            <a:r>
              <a:t>The Transformation: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65D"/>
                </a:solidFill>
                <a:latin typeface="Calibri"/>
              </a:defRPr>
            </a:pPr>
            <a:r>
              <a:t>Processing Time: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02C"/>
                </a:solidFill>
                <a:latin typeface="Calibri"/>
              </a:defRPr>
            </a:pPr>
            <a:r>
              <a:t>25 min  --&gt;  5 seconds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A169"/>
                </a:solidFill>
                <a:latin typeface="Calibri"/>
              </a:defRPr>
            </a:pPr>
            <a:r>
              <a:t>(99.7% faster)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65D"/>
                </a:solidFill>
                <a:latin typeface="Calibri"/>
              </a:defRPr>
            </a:pPr>
            <a:r>
              <a:t>Cost Per Invoice: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02C"/>
                </a:solidFill>
                <a:latin typeface="Calibri"/>
              </a:defRPr>
            </a:pPr>
            <a:r>
              <a:t>$16.00  --&gt;  $3.00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3931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A169"/>
                </a:solidFill>
                <a:latin typeface="Calibri"/>
              </a:defRPr>
            </a:pPr>
            <a:r>
              <a:t>(81% cheaper)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65D"/>
                </a:solidFill>
                <a:latin typeface="Calibri"/>
              </a:defRPr>
            </a:pPr>
            <a:r>
              <a:t>Error Rate: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02C"/>
                </a:solidFill>
                <a:latin typeface="Calibri"/>
              </a:defRPr>
            </a:pPr>
            <a:r>
              <a:t>4%  --&gt;  0.5%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A169"/>
                </a:solidFill>
                <a:latin typeface="Calibri"/>
              </a:defRPr>
            </a:pPr>
            <a:r>
              <a:t>(87% fewer errors)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02919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65D"/>
                </a:solidFill>
                <a:latin typeface="Calibri"/>
              </a:defRPr>
            </a:pPr>
            <a:r>
              <a:t>Days to Payment: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502919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02C"/>
                </a:solidFill>
                <a:latin typeface="Calibri"/>
              </a:defRPr>
            </a:pPr>
            <a:r>
              <a:t>14.6 days  --&gt;  1 day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50291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A169"/>
                </a:solidFill>
                <a:latin typeface="Calibri"/>
              </a:defRPr>
            </a:pPr>
            <a:r>
              <a:t>(93% faster)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577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65D"/>
                </a:solidFill>
                <a:latin typeface="Calibri"/>
              </a:defRPr>
            </a:pPr>
            <a:r>
              <a:t>Straight-Through: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02C"/>
                </a:solidFill>
                <a:latin typeface="Calibri"/>
              </a:defRPr>
            </a:pPr>
            <a:r>
              <a:t>&lt;20%  --&gt;  85%+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5577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A169"/>
                </a:solidFill>
                <a:latin typeface="Calibri"/>
              </a:defRPr>
            </a:pPr>
            <a:r>
              <a:t>(no human touch needed)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The ROI: $462,000 Saved Per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Calibri"/>
              </a:defRPr>
            </a:pPr>
            <a:r>
              <a:t>Based on your volume of 3,000 invoices per month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5029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  <a:latin typeface="Calibri"/>
              </a:defRPr>
            </a:pPr>
            <a:r>
              <a:t>Savings Breakdown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828800"/>
          <a:ext cx="5212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1005840"/>
                <a:gridCol w="13716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AI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AP Staff Labor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$360,000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$84,000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$276,000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Error Correction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$72,000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$7,200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$64,800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Late Payments / Discounts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$90,000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$81,000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Overhead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$36,000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$12,000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$24,000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Vendor Follow-ups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$16,200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6749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6F6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6749"/>
                          </a:solidFill>
                          <a:latin typeface="Calibri"/>
                        </a:defRPr>
                      </a:pPr>
                      <a:r>
                        <a:t>$576,000</a:t>
                      </a:r>
                    </a:p>
                  </a:txBody>
                  <a:tcPr>
                    <a:solidFill>
                      <a:srgbClr val="C6F6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6749"/>
                          </a:solidFill>
                          <a:latin typeface="Calibri"/>
                        </a:defRPr>
                      </a:pPr>
                      <a:r>
                        <a:t>$114,000</a:t>
                      </a:r>
                    </a:p>
                  </a:txBody>
                  <a:tcPr>
                    <a:solidFill>
                      <a:srgbClr val="C6F6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6749"/>
                          </a:solidFill>
                          <a:latin typeface="Calibri"/>
                        </a:defRPr>
                      </a:pPr>
                      <a:r>
                        <a:t>$462,000</a:t>
                      </a:r>
                    </a:p>
                  </a:txBody>
                  <a:tcPr>
                    <a:solidFill>
                      <a:srgbClr val="C6F6D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84632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937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SOFTWARE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B6CB0"/>
                </a:solidFill>
                <a:latin typeface="Calibri"/>
              </a:defRPr>
            </a:pPr>
            <a:r>
              <a:t>$18,000/yr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623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PayFlow AI subscription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484632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4937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ANNUAL SAVINGS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8A169"/>
                </a:solidFill>
                <a:latin typeface="Calibri"/>
              </a:defRPr>
            </a:pPr>
            <a:r>
              <a:t>$462,000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5623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Net savings after software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84632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937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ROI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8A169"/>
                </a:solidFill>
                <a:latin typeface="Calibri"/>
              </a:defRPr>
            </a:pPr>
            <a:r>
              <a:t>2,467%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623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Return on investment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484632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4937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PAYBACK PERIOD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8A169"/>
                </a:solidFill>
                <a:latin typeface="Calibri"/>
              </a:defRPr>
            </a:pPr>
            <a:r>
              <a:t>2 Weeks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5623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Software pays for itself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3-Year Financial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Calibri"/>
              </a:defRPr>
            </a:pPr>
            <a:r>
              <a:t>Cumulative savings assuming 5% annual invoice growth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  <a:latin typeface="Calibri"/>
              </a:defRPr>
            </a:pPr>
            <a:r>
              <a:t>3-Year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46720" y="1828800"/>
          <a:ext cx="366674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95528"/>
                <a:gridCol w="795528"/>
                <a:gridCol w="795528"/>
              </a:tblGrid>
              <a:tr h="381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Invoices/Month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Manual AP Cost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$576K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$605K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$635K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PayFlow AI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$114K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$118K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$122K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Annual Savings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$462K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$487K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$513K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6749"/>
                          </a:solidFill>
                          <a:latin typeface="Calibri"/>
                        </a:defRPr>
                      </a:pPr>
                      <a:r>
                        <a:t>Cumulative Savings</a:t>
                      </a:r>
                    </a:p>
                  </a:txBody>
                  <a:tcPr>
                    <a:solidFill>
                      <a:srgbClr val="C6F6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76749"/>
                          </a:solidFill>
                          <a:latin typeface="Calibri"/>
                        </a:defRPr>
                      </a:pPr>
                      <a:r>
                        <a:t>$462K</a:t>
                      </a:r>
                    </a:p>
                  </a:txBody>
                  <a:tcPr>
                    <a:solidFill>
                      <a:srgbClr val="C6F6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76749"/>
                          </a:solidFill>
                          <a:latin typeface="Calibri"/>
                        </a:defRPr>
                      </a:pPr>
                      <a:r>
                        <a:t>$949K</a:t>
                      </a:r>
                    </a:p>
                  </a:txBody>
                  <a:tcPr>
                    <a:solidFill>
                      <a:srgbClr val="C6F6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76749"/>
                          </a:solidFill>
                          <a:latin typeface="Calibri"/>
                        </a:defRPr>
                      </a:pPr>
                      <a:r>
                        <a:t>$1.46M</a:t>
                      </a:r>
                    </a:p>
                  </a:txBody>
                  <a:tcPr>
                    <a:solidFill>
                      <a:srgbClr val="C6F6D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46720" y="4389120"/>
            <a:ext cx="3657600" cy="1371600"/>
          </a:xfrm>
          <a:prstGeom prst="roundRect">
            <a:avLst/>
          </a:prstGeom>
          <a:solidFill>
            <a:srgbClr val="C6F6D5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6749"/>
                </a:solidFill>
                <a:latin typeface="Calibri"/>
              </a:defRPr>
            </a:pPr>
            <a:r>
              <a:t>3-Year Total Savings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7548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76749"/>
                </a:solidFill>
                <a:latin typeface="Calibri"/>
              </a:defRPr>
            </a:pPr>
            <a:r>
              <a:t>$1.46 Million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76749"/>
                </a:solidFill>
                <a:latin typeface="Calibri"/>
              </a:defRPr>
            </a:pPr>
            <a:r>
              <a:t>Redirected to projects, equipment, and growth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Why Generic AP Software Fails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Calibri"/>
              </a:defRPr>
            </a:pPr>
            <a:r>
              <a:t>Your AP process has requirements that Stampli, Vic.ai, and Bill.com can't handle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73152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011680"/>
                <a:gridCol w="2103120"/>
              </a:tblGrid>
              <a:tr h="35922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Generic AP</a:t>
                      </a:r>
                    </a:p>
                    <a:p>
                      <a:r>
                        <a:t>(Stampli, Vic.ai)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PayFlow AI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Read standard invoices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GL code prediction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Approval workflows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AIA G702/G703 billing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Lien waiver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Retention management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5D job costing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Change order tracking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COI expiration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Prevailing wage verification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Multi-entity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Sage integration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Native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592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Procore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03920" y="1371600"/>
            <a:ext cx="3200400" cy="502920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365D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1A365D"/>
                </a:solidFill>
                <a:latin typeface="Calibri"/>
              </a:defRPr>
            </a:pPr>
            <a:r>
              <a:t>Generic AP tools handle 3 out of 13 construction requirements.</a:t>
            </a:r>
          </a:p>
          <a:p>
            <a:pPr>
              <a:spcAft>
                <a:spcPts val="1600"/>
              </a:spcAft>
              <a:defRPr sz="1400">
                <a:solidFill>
                  <a:srgbClr val="1A365D"/>
                </a:solidFill>
                <a:latin typeface="Calibri"/>
              </a:defRPr>
            </a:pPr>
            <a:r>
              <a:t>PayFlow AI handles all 13.</a:t>
            </a:r>
          </a:p>
          <a:p>
            <a:pPr>
              <a:spcAft>
                <a:spcPts val="1600"/>
              </a:spcAft>
              <a:defRPr sz="1400">
                <a:solidFill>
                  <a:srgbClr val="1A365D"/>
                </a:solidFill>
                <a:latin typeface="Calibri"/>
              </a:defRPr>
            </a:pPr>
            <a:r>
              <a:t>That's not a feature gap — it's a different product for a different industry.</a:t>
            </a:r>
          </a:p>
          <a:p>
            <a:pPr>
              <a:spcAft>
                <a:spcPts val="1600"/>
              </a:spcAft>
              <a:defRPr sz="1400">
                <a:solidFill>
                  <a:srgbClr val="1A365D"/>
                </a:solidFill>
                <a:latin typeface="Calibri"/>
              </a:defRPr>
            </a:pPr>
            <a:r>
              <a:t>Your AP team currently fills this gap manually. That's where the $576K goes.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Plugs Into Your Existing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Calibri"/>
              </a:defRPr>
            </a:pPr>
            <a:r>
              <a:t>No rip-and-replace. Works with Sage and Procore on day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6517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2560320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361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0E0F0"/>
                </a:solidFill>
                <a:latin typeface="Calibri"/>
              </a:defRPr>
            </a:pPr>
            <a:r>
              <a:t>Accounting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Two-way sync of chart of accounts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Import vendors, jobs, cost codes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Push approved invoices directly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Sync payment status 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6517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508760"/>
            <a:ext cx="2560320" cy="6400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5361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828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0E0F0"/>
                </a:solidFill>
                <a:latin typeface="Calibri"/>
              </a:defRPr>
            </a:pPr>
            <a:r>
              <a:t>Project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3172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Pull POs, budgets, commitments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Import change orders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Three-way match against POs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Real-time contract 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463040"/>
            <a:ext cx="26517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508760"/>
            <a:ext cx="2560320" cy="6400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361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0E0F0"/>
                </a:solidFill>
                <a:latin typeface="Calibri"/>
              </a:defRPr>
            </a:pPr>
            <a:r>
              <a:t>Invoice 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3172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Dedicated inbox per company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AI identifies invoices vs. spam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Auto-processes on arrival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Vendors email directly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463040"/>
            <a:ext cx="26517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1508760"/>
            <a:ext cx="2560320" cy="64008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5361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828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0E0F0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33172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Schedule approved payments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ACH, check, or card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Auto-reconciliation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Cash flow visibility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Invoice arrives via email  --&gt;  AI extracts &amp; codes  --&gt;  Matches against Procore PO  --&gt;  Routes for approval  --&gt;  Posts to Sage  --&gt;  Payment scheduled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AI Accuracy You Can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Calibri"/>
              </a:defRPr>
            </a:pPr>
            <a:r>
              <a:t>Built-in safeguards ensure nothing gets posted without verification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59436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  <a:latin typeface="Calibri"/>
              </a:defRPr>
            </a:pPr>
            <a:r>
              <a:t>Built-In Safety 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Confidence scoring on every field — you see exactly how sure the AI is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Low-confidence invoices route to humans automatically — never auto-posted blindly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Every AI decision logged in full audit trail — who, what, when, why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Math validation — line items must sum to totals or it's flagged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Duplicate detection — same invoice number, same amount, same vendor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Human override on any field — your team has final say, always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Shadow mode — run AI alongside your team before going live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C6F6D5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6749"/>
                </a:solidFill>
                <a:latin typeface="Calibri"/>
              </a:defRPr>
            </a:pPr>
            <a:r>
              <a:t>The AI handles the 85% that's routine. Your team focuses on the 15% that needs judgment.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76749"/>
                </a:solidFill>
                <a:latin typeface="Calibri"/>
              </a:defRPr>
            </a:pPr>
            <a:r>
              <a:t>That's not replacing your team — it's giving them superpowers. One AP clerk with PayFlow AI</a:t>
            </a:r>
            <a:br/>
            <a:r>
              <a:t>outperforms a team of five doing it manually.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Enterprise-Grade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Calibri"/>
              </a:defRPr>
            </a:pPr>
            <a:r>
              <a:t>Your financial data is protected at every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Calibri"/>
              </a:defRPr>
            </a:pPr>
            <a:r>
              <a:t>Encryption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AES-256 at rest</a:t>
            </a:r>
          </a:p>
          <a:p>
            <a:pPr>
              <a:spcAft>
                <a:spcPts val="4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TLS 1.2+ in transit</a:t>
            </a:r>
          </a:p>
          <a:p>
            <a:pPr>
              <a:spcAft>
                <a:spcPts val="4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End-to-end protection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3832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Calibri"/>
              </a:defRPr>
            </a:pPr>
            <a:r>
              <a:t>AI Data Privacy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Invoices processed via API only</a:t>
            </a:r>
          </a:p>
          <a:p>
            <a:pPr>
              <a:spcAft>
                <a:spcPts val="4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Never used to train AI models</a:t>
            </a:r>
          </a:p>
          <a:p>
            <a:pPr>
              <a:spcAft>
                <a:spcPts val="4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Your data stays yours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3832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Calibri"/>
              </a:defRPr>
            </a:pPr>
            <a:r>
              <a:t>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Role-based permissions</a:t>
            </a:r>
          </a:p>
          <a:p>
            <a:pPr>
              <a:spcAft>
                <a:spcPts val="4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AP clerk, PM, Controller, CFO</a:t>
            </a:r>
          </a:p>
          <a:p>
            <a:pPr>
              <a:spcAft>
                <a:spcPts val="4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Each sees only what they need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33832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Every action logged</a:t>
            </a:r>
          </a:p>
          <a:p>
            <a:pPr>
              <a:spcAft>
                <a:spcPts val="4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Who uploaded, extracted, approved</a:t>
            </a:r>
          </a:p>
          <a:p>
            <a:pPr>
              <a:spcAft>
                <a:spcPts val="4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Full compliance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657600"/>
            <a:ext cx="33832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Calibri"/>
              </a:defRPr>
            </a:pPr>
            <a:r>
              <a:t>SOC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2062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Enterprise security controls</a:t>
            </a:r>
          </a:p>
          <a:p>
            <a:pPr>
              <a:spcAft>
                <a:spcPts val="4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Annual third-party audits</a:t>
            </a:r>
          </a:p>
          <a:p>
            <a:pPr>
              <a:spcAft>
                <a:spcPts val="4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Industry standard compliance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657600"/>
            <a:ext cx="33832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Calibri"/>
              </a:defRPr>
            </a:pPr>
            <a:r>
              <a:t>Data Ownership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2062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You own your data, always</a:t>
            </a:r>
          </a:p>
          <a:p>
            <a:pPr>
              <a:spcAft>
                <a:spcPts val="4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Full export available anytime</a:t>
            </a:r>
          </a:p>
          <a:p>
            <a:pPr>
              <a:spcAft>
                <a:spcPts val="4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Portable if you leave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Live in 8 Weeks — Zero Disruption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Calibri"/>
              </a:defRPr>
            </a:pPr>
            <a:r>
              <a:t>Your team keeps working normally while we set up in parallel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5950" y="1389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W1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3260" y="1389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W2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0569" y="1389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W3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389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W4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5190" y="1389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W5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499" y="1389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W6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9809" y="1389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W7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1389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W8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371600"/>
            <a:ext cx="267462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389888"/>
            <a:ext cx="26746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Weeks 1-2: Setup &amp; Connect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10312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148840"/>
            <a:ext cx="2606040" cy="4114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17627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Weeks 1-2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6517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  <a:latin typeface="Calibri"/>
              </a:defRPr>
            </a:pPr>
            <a:r>
              <a:t>Setup &amp; Connect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01752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3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Connect Sage &amp; Procore. Import</a:t>
            </a:r>
          </a:p>
          <a:p>
            <a:pPr algn="ctr">
              <a:spcAft>
                <a:spcPts val="3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chart of accounts, vendors,</a:t>
            </a:r>
          </a:p>
          <a:p>
            <a:pPr algn="ctr">
              <a:spcAft>
                <a:spcPts val="3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jobs, cost codes.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06140" y="1371600"/>
            <a:ext cx="267462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6140" y="1389888"/>
            <a:ext cx="26746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Weeks 3-4: AI Calibration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210312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3280" y="2148840"/>
            <a:ext cx="2606040" cy="4114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217627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Weeks 3-4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26517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  <a:latin typeface="Calibri"/>
              </a:defRPr>
            </a:pPr>
            <a:r>
              <a:t>AI Calibration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01752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3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Process your real invoices.</a:t>
            </a:r>
          </a:p>
          <a:p>
            <a:pPr algn="ctr">
              <a:spcAft>
                <a:spcPts val="3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Tune AI to your patterns.</a:t>
            </a:r>
          </a:p>
          <a:p>
            <a:pPr algn="ctr">
              <a:spcAft>
                <a:spcPts val="3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Verify accuracy.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1371600"/>
            <a:ext cx="2674620" cy="4572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389888"/>
            <a:ext cx="26746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Weeks 5-6: Shadow Mode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10312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2148840"/>
            <a:ext cx="2606040" cy="4114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17627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Weeks 5-6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6517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  <a:latin typeface="Calibri"/>
              </a:defRPr>
            </a:pPr>
            <a:r>
              <a:t>Shadow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01752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3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AI runs alongside your team.</a:t>
            </a:r>
          </a:p>
          <a:p>
            <a:pPr algn="ctr">
              <a:spcAft>
                <a:spcPts val="3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Compare results side by side.</a:t>
            </a:r>
          </a:p>
          <a:p>
            <a:pPr algn="ctr">
              <a:spcAft>
                <a:spcPts val="3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Build confidence.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55379" y="1371600"/>
            <a:ext cx="2674620" cy="4572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55379" y="1389888"/>
            <a:ext cx="26746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Weeks 7-8: Go Live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280" y="210312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0" y="2148840"/>
            <a:ext cx="2606040" cy="4114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217627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Weeks 7-8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26517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  <a:latin typeface="Calibri"/>
              </a:defRPr>
            </a:pPr>
            <a:r>
              <a:t>Go Live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01752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3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AI handles routine invoices.</a:t>
            </a:r>
          </a:p>
          <a:p>
            <a:pPr algn="ctr">
              <a:spcAft>
                <a:spcPts val="3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Team focuses on exceptions.</a:t>
            </a:r>
          </a:p>
          <a:p>
            <a:pPr algn="ctr">
              <a:spcAft>
                <a:spcPts val="3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Start saving immediately.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754880"/>
            <a:ext cx="3383280" cy="146304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846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  <a:latin typeface="Calibri"/>
              </a:defRPr>
            </a:pPr>
            <a:r>
              <a:t>Zero Disruption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2120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200">
                <a:solidFill>
                  <a:srgbClr val="1A365D"/>
                </a:solidFill>
                <a:latin typeface="Calibri"/>
              </a:defRPr>
            </a:pPr>
            <a:r>
              <a:t>Your team keeps working normally.</a:t>
            </a:r>
          </a:p>
          <a:p>
            <a:pPr algn="ctr">
              <a:defRPr sz="1200">
                <a:solidFill>
                  <a:srgbClr val="1A365D"/>
                </a:solidFill>
                <a:latin typeface="Calibri"/>
              </a:defRPr>
            </a:pPr>
            <a:r>
              <a:t>AI runs in parallel until ready.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80559" y="4754880"/>
            <a:ext cx="3383280" cy="146304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39" y="4846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  <a:latin typeface="Calibri"/>
              </a:defRPr>
            </a:pPr>
            <a:r>
              <a:t>Immediate Value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39" y="52120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200">
                <a:solidFill>
                  <a:srgbClr val="1A365D"/>
                </a:solidFill>
                <a:latin typeface="Calibri"/>
              </a:defRPr>
            </a:pPr>
            <a:r>
              <a:t>See ROI from the first week</a:t>
            </a:r>
          </a:p>
          <a:p>
            <a:pPr algn="ctr">
              <a:defRPr sz="1200">
                <a:solidFill>
                  <a:srgbClr val="1A365D"/>
                </a:solidFill>
                <a:latin typeface="Calibri"/>
              </a:defRPr>
            </a:pPr>
            <a:r>
              <a:t>of go-live. No 6-month wait.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599" y="4754880"/>
            <a:ext cx="3383280" cy="146304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79" y="4846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  <a:latin typeface="Calibri"/>
              </a:defRPr>
            </a:pPr>
            <a:r>
              <a:t>Risk-Free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79" y="52120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200">
                <a:solidFill>
                  <a:srgbClr val="1A365D"/>
                </a:solidFill>
                <a:latin typeface="Calibri"/>
              </a:defRPr>
            </a:pPr>
            <a:r>
              <a:t>Shadow mode proves accuracy</a:t>
            </a:r>
          </a:p>
          <a:p>
            <a:pPr algn="ctr">
              <a:defRPr sz="1200">
                <a:solidFill>
                  <a:srgbClr val="1A365D"/>
                </a:solidFill>
                <a:latin typeface="Calibri"/>
              </a:defRPr>
            </a:pPr>
            <a:r>
              <a:t>before you commit. Cancel anytime.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Investment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3200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B6CB0"/>
                </a:solidFill>
                <a:latin typeface="Calibri"/>
              </a:defRPr>
            </a:pPr>
            <a: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A202C"/>
                </a:solidFill>
                <a:latin typeface="Calibri"/>
              </a:defRPr>
            </a:pPr>
            <a:r>
              <a:t>$500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06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  Up to 1,000 invoices/mo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718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  5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37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  Sage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703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  AI extraction &amp; 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069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  Email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34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  Standard support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868680"/>
            <a:ext cx="3291840" cy="3200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868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RECOMMENDED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1188720"/>
            <a:ext cx="3200400" cy="4846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A169"/>
                </a:solidFill>
                <a:latin typeface="Calibri"/>
              </a:defRPr>
            </a:pPr>
            <a:r>
              <a:t>Professional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783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A202C"/>
                </a:solidFill>
                <a:latin typeface="Calibri"/>
              </a:defRPr>
            </a:pPr>
            <a:r>
              <a:t>$1,500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40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606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  Up to 5,000 invoices/mo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9718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  Unlimited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337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  Sage + Procore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703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  AIA billing &amp; lien waivers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069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  Retention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434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  Fraud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800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  Priority support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188720"/>
            <a:ext cx="3200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365D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783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A202C"/>
                </a:solidFill>
                <a:latin typeface="Calibri"/>
              </a:defRPr>
            </a:pPr>
            <a:r>
              <a:t>Custom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606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  Unlimited invoices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9718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  Unlimited users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337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  All integrations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703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  Custom workflows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069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  Dedicated account manager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434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  SLA guarantee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800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  On-site training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8"/>
                </a:solidFill>
                <a:latin typeface="Calibri"/>
              </a:defRPr>
            </a:pPr>
            <a:r>
              <a:t>All plans include: AI invoice extraction, GL coding, approval workflows, duplicate detection, and full audit trail.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Ready to Save $462,000/Year?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544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CEF0"/>
                </a:solidFill>
                <a:latin typeface="Calibri"/>
              </a:defRPr>
            </a:pPr>
            <a:r>
              <a:t>Three steps to transform your AP process — zero risk:</a:t>
            </a:r>
          </a:p>
        </p:txBody>
      </p:sp>
      <p:sp>
        <p:nvSpPr>
          <p:cNvPr id="5" name="Oval 4"/>
          <p:cNvSpPr/>
          <p:nvPr/>
        </p:nvSpPr>
        <p:spPr>
          <a:xfrm>
            <a:off x="2286000" y="3108960"/>
            <a:ext cx="548640" cy="54864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312724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Share 50 Sample Invoices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4747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CBD5E0"/>
                </a:solidFill>
                <a:latin typeface="Calibri"/>
              </a:defRPr>
            </a:pPr>
            <a:r>
              <a:t>We run them through the AI and show you extraction results.</a:t>
            </a:r>
          </a:p>
          <a:p>
            <a:pPr>
              <a:defRPr sz="1300">
                <a:solidFill>
                  <a:srgbClr val="CBD5E0"/>
                </a:solidFill>
                <a:latin typeface="Calibri"/>
              </a:defRPr>
            </a:pPr>
            <a:r>
              <a:t>No commitment. No cost. Just proof.</a:t>
            </a:r>
          </a:p>
        </p:txBody>
      </p:sp>
      <p:sp>
        <p:nvSpPr>
          <p:cNvPr id="8" name="Oval 7"/>
          <p:cNvSpPr/>
          <p:nvPr/>
        </p:nvSpPr>
        <p:spPr>
          <a:xfrm>
            <a:off x="2286000" y="4206240"/>
            <a:ext cx="548640" cy="54864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42245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2-Week Shadow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45720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CBD5E0"/>
                </a:solidFill>
                <a:latin typeface="Calibri"/>
              </a:defRPr>
            </a:pPr>
            <a:r>
              <a:t>AI processes your real invoices alongside your team.</a:t>
            </a:r>
          </a:p>
          <a:p>
            <a:pPr>
              <a:defRPr sz="1300">
                <a:solidFill>
                  <a:srgbClr val="CBD5E0"/>
                </a:solidFill>
                <a:latin typeface="Calibri"/>
              </a:defRPr>
            </a:pPr>
            <a:r>
              <a:t>You compare accuracy. We prove the value.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0" y="5303520"/>
            <a:ext cx="548640" cy="54864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532180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Go Live With 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5669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CBD5E0"/>
                </a:solidFill>
                <a:latin typeface="Calibri"/>
              </a:defRPr>
            </a:pPr>
            <a:r>
              <a:t>Only when you've seen the numbers.</a:t>
            </a:r>
          </a:p>
          <a:p>
            <a:pPr>
              <a:defRPr sz="1300">
                <a:solidFill>
                  <a:srgbClr val="CBD5E0"/>
                </a:solidFill>
                <a:latin typeface="Calibri"/>
              </a:defRPr>
            </a:pPr>
            <a:r>
              <a:t>Start saving from day one. Cancel anytime.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8096"/>
                </a:solidFill>
                <a:latin typeface="Calibri"/>
              </a:defRPr>
            </a:pPr>
            <a:r>
              <a:t>PayFlow AI  |  AI-Powered AP Automation for Construction  |  payflowai.com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